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6" d="100"/>
          <a:sy n="46" d="100"/>
        </p:scale>
        <p:origin x="62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A6B12-69D9-4358-B158-0B78479316AB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36FF12-ADF3-474D-B8A5-4080B4F6EF0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517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Tempo: 15 segundos.`r`n“Este é o CLON: um sistema operacional pessoal de inteligência artificial. A proposta é simples: em vez de administrar várias ferramentas isoladas, você conversa com um segundo eu digital que entende seu contexto e coordena especialistas — sempre sob as suas regras.”</a:t>
            </a:r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36FF12-ADF3-474D-B8A5-4080B4F6EF0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266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Tempo: 25 segundos.`r`n“Hoje, nossa rotina está distribuída entre e-mail, calendário, tarefas, eventos e treino. O problema não é falta de aplicativos: é falta de coordenação. Cada ferramenta enxerga apenas um pedaço da vida, surgem conflitos de agenda e, quando a automação age sem transparência, a confiança desaparece.”</a:t>
            </a:r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36FF12-ADF3-474D-B8A5-4080B4F6EF0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0455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Tempo: 35 segundos.`r`n“A resposta do CLON é um agente mestre que coordena quatro clones especializados. Comunicação cuida do e-mail; Trabalho prioriza e protege o foco; Vida encontra experiências compatíveis; e Fitness encaixa treinos com segurança. O calendário é um serviço compartilhado, então todos tomam decisões sobre a mesma disponibilidade — sem criar mais um silo.”</a:t>
            </a:r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36FF12-ADF3-474D-B8A5-4080B4F6EF0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1729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Tempo: 40 segundos.`r`n“O fluxo começa com uma intenção em linguagem natural. O Master entende o pedido, delega aos especialistas e consulta os serviços compartilhados. Em seguida, ele monta uma proposta única. Antes de qualquer mudança relevante, o usuário vê exatamente o que será feito e aprova. Só então o CLON executa e registra a ação. O resultado é automação útil, mas com controle humano real.”</a:t>
            </a:r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36FF12-ADF3-474D-B8A5-4080B4F6EF0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296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Tempo: 40 segundos.`r`n“O CLON foi projetado para confiança: e-mails não são enviados, mudanças relevantes exigem aprovação, conteúdo malicioso é tratado como dado não confiável e Demo e Live nunca são confundidos. O MVP já demonstra, sem chaves, três histórias completas: organizar o dia, resumir e-mails com segurança e encontrar um treino sem conflito. A visão é simples: menos aplicativos isolados e mais coordenação, com a pessoa sempre no comando.”</a:t>
            </a:r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36FF12-ADF3-474D-B8A5-4080B4F6EF0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294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91EA6F-EE64-C1DF-C3CF-B4F837C5E9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1118A9F-6330-F748-7ECE-131921AD01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89ABE07-B2C5-5169-11CF-34B70CA6B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68F91-EDF9-42BC-AE6A-982D3CA7088F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53F105-E52D-F92D-7BF4-DF8BC8873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B1AAFA-9D82-D8EC-EC6C-7D62F899E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2AC53-C508-4E15-8A7C-48D15B33B9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423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DDFB78-02D1-7E76-031A-67B9E92C6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FC293A-FC0D-8D84-DADE-05DC77BF3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4EB2567-4446-58CA-ACF0-2DB72FFDC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68F91-EDF9-42BC-AE6A-982D3CA7088F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42B326-2A6E-944E-95C6-FAEDE1E0F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EE1151-6F93-6BCF-EDB1-E86105811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2AC53-C508-4E15-8A7C-48D15B33B9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311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78E75D-26AD-2836-1339-0552E8074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56A254B-E01D-6DB3-CFBC-E79118F684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421A6D-7759-5E02-3E93-14E91F762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68F91-EDF9-42BC-AE6A-982D3CA7088F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748BC3-DF8A-7158-F87C-A6DE195DA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865CF4-11C9-0736-007C-360AB6BE4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2AC53-C508-4E15-8A7C-48D15B33B9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314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2BAC3C-7A93-B11C-EC2F-06C506F58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B8BAEF-037D-35B8-E193-7E5A8D3E62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CFF3B99-6573-4DDD-945A-C3CC00F560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09B48FA-8821-A327-73EE-69F5D02A6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68F91-EDF9-42BC-AE6A-982D3CA7088F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21B788E-9D01-7F8C-0AAE-DED41ECDA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FC4C3D9-5704-7978-B7B9-672036AB8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2AC53-C508-4E15-8A7C-48D15B33B9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923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5749E-A52E-8C48-533C-94D00ACAA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6F113B9-9111-76BE-E307-B072FE929C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ADEC39F-F4C8-E47B-0A77-20079355D6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5175241-FADB-B087-0397-DC54F113BB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09CE2E4-B609-6362-8A5E-93169161E6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685DEB1-6CBB-27A0-30B7-BA69053AD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68F91-EDF9-42BC-AE6A-982D3CA7088F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781ED9C-DAC4-523D-287E-9A2A049DF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96E8549-B2FE-9BFB-F062-491A006C0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2AC53-C508-4E15-8A7C-48D15B33B9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81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64C6E5-08AF-B8B1-6E6E-4DD306E42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F0DA99B-E3AA-144D-C071-7475A9815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68F91-EDF9-42BC-AE6A-982D3CA7088F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752C40B-0D66-A033-CAE4-D64BDAE2C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DD7E0A8-0060-179A-BF22-6EB9806A2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2AC53-C508-4E15-8A7C-48D15B33B9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644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A87CA06-8651-99CD-F378-E5AF7B8EA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68F91-EDF9-42BC-AE6A-982D3CA7088F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5FBCAC6-826E-5A05-9A36-64340EEAA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AFFF5FC-CDE2-74B6-A740-C9653CDBD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2AC53-C508-4E15-8A7C-48D15B33B9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790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933F6D-0A4F-95DF-164C-5C63A452A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0CF4788-5745-FA83-22BE-C1E19EA31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0BD279B-E83E-35B9-1BF9-0A724031A0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B1DFBC-47AA-51A4-08D7-87F297CEE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68F91-EDF9-42BC-AE6A-982D3CA7088F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7FE17CC-5F3A-633A-8FA9-0FC7529DF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7E6DC14-E6C0-9885-0619-AAFD0BB55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2AC53-C508-4E15-8A7C-48D15B33B9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643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D6B710-924A-CD97-9BB1-302F70AB2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177136B-66FA-442D-71C1-AE72A0BD499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335A75B-3AD7-2340-FE08-67178B562B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067724-DFF8-E8C4-A2C3-F5B26FB6E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68F91-EDF9-42BC-AE6A-982D3CA7088F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5D328A0-6CAC-F23D-720C-50DA4B247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E992CE3-A54C-46B7-9602-0B126B672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2AC53-C508-4E15-8A7C-48D15B33B9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231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122751-DCE0-46DB-CAC3-213964F1F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272FFE9-2F0B-9AB1-3652-88B6FCB10E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0FC4F8-2C2C-54EA-F22C-677669273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68F91-EDF9-42BC-AE6A-982D3CA7088F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5DC0AB-DC8C-6F7A-3549-7B6948905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FCBF316-8249-F783-3206-4F02E81C5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2AC53-C508-4E15-8A7C-48D15B33B9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630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FA1FF35-1404-7B29-4D4B-2D9CC7951E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D5D3FBF-C954-4493-F365-C47A498316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C85E77-D094-F1EA-6270-BC0812BDB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68F91-EDF9-42BC-AE6A-982D3CA7088F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63C3D22-F820-DE18-48D6-7F3BC88C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CAC08A-C972-E78B-0B2B-DDA6308FF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2AC53-C508-4E15-8A7C-48D15B33B9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102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7E7240C-C31E-23CE-B127-D2E609B9F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52331A3-E86C-8290-ADA5-F468429486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AB5E46-1C85-D943-C4E3-D76F0710E1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968F91-EDF9-42BC-AE6A-982D3CA7088F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81E9C9-8A41-AB03-EE29-318B22D342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345C639-446D-2448-E934-4AEA57EF63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32AC53-C508-4E15-8A7C-48D15B33B9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277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9308A850-7BE6-D95C-EE0A-EF2F3C93817F}"/>
              </a:ext>
            </a:extLst>
          </p:cNvPr>
          <p:cNvSpPr/>
          <p:nvPr/>
        </p:nvSpPr>
        <p:spPr>
          <a:xfrm>
            <a:off x="7747000" y="254000"/>
            <a:ext cx="3683000" cy="3683000"/>
          </a:xfrm>
          <a:prstGeom prst="ellipse">
            <a:avLst/>
          </a:prstGeom>
          <a:solidFill>
            <a:srgbClr val="9879FF">
              <a:alpha val="6000"/>
            </a:srgbClr>
          </a:solidFill>
          <a:ln w="0" cap="flat" cmpd="sng" algn="ctr">
            <a:solidFill>
              <a:srgbClr val="9879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4661612A-DAFB-595F-EABC-A8C4EAC5C700}"/>
              </a:ext>
            </a:extLst>
          </p:cNvPr>
          <p:cNvSpPr/>
          <p:nvPr/>
        </p:nvSpPr>
        <p:spPr>
          <a:xfrm>
            <a:off x="8382000" y="889000"/>
            <a:ext cx="2921000" cy="2921000"/>
          </a:xfrm>
          <a:prstGeom prst="ellipse">
            <a:avLst/>
          </a:prstGeom>
          <a:solidFill>
            <a:srgbClr val="5BE7F5">
              <a:alpha val="6000"/>
            </a:srgbClr>
          </a:solidFill>
          <a:ln w="0" cap="flat" cmpd="sng" algn="ctr">
            <a:solidFill>
              <a:srgbClr val="5BE7F5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D4155DDF-83CE-4207-57E2-380ABA7B88AE}"/>
              </a:ext>
            </a:extLst>
          </p:cNvPr>
          <p:cNvSpPr/>
          <p:nvPr/>
        </p:nvSpPr>
        <p:spPr>
          <a:xfrm>
            <a:off x="8572500" y="1079500"/>
            <a:ext cx="2540000" cy="2540000"/>
          </a:xfrm>
          <a:prstGeom prst="ellipse">
            <a:avLst/>
          </a:prstGeom>
          <a:solidFill>
            <a:srgbClr val="050816">
              <a:alpha val="0"/>
            </a:srgbClr>
          </a:solidFill>
          <a:ln w="16510" cap="flat" cmpd="sng" algn="ctr">
            <a:solidFill>
              <a:srgbClr val="5BE7F5">
                <a:alpha val="7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24269F25-E20A-A637-9762-C5467C652400}"/>
              </a:ext>
            </a:extLst>
          </p:cNvPr>
          <p:cNvSpPr/>
          <p:nvPr/>
        </p:nvSpPr>
        <p:spPr>
          <a:xfrm>
            <a:off x="8953500" y="1460500"/>
            <a:ext cx="1778000" cy="1778000"/>
          </a:xfrm>
          <a:prstGeom prst="ellipse">
            <a:avLst/>
          </a:prstGeom>
          <a:solidFill>
            <a:srgbClr val="050816">
              <a:alpha val="0"/>
            </a:srgbClr>
          </a:solidFill>
          <a:ln w="12700" cap="flat" cmpd="sng" algn="ctr">
            <a:solidFill>
              <a:srgbClr val="9879FF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1C5CF658-E48F-D6B7-2BBD-5272D4C21029}"/>
              </a:ext>
            </a:extLst>
          </p:cNvPr>
          <p:cNvCxnSpPr/>
          <p:nvPr/>
        </p:nvCxnSpPr>
        <p:spPr>
          <a:xfrm>
            <a:off x="9817100" y="1651000"/>
            <a:ext cx="0" cy="1739900"/>
          </a:xfrm>
          <a:prstGeom prst="line">
            <a:avLst/>
          </a:prstGeom>
          <a:ln w="12700" cap="flat" cmpd="sng" algn="ctr">
            <a:solidFill>
              <a:srgbClr val="5BE7F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FEE1C6C1-F2B8-D21E-1BC8-1063AFAA78B3}"/>
              </a:ext>
            </a:extLst>
          </p:cNvPr>
          <p:cNvCxnSpPr/>
          <p:nvPr/>
        </p:nvCxnSpPr>
        <p:spPr>
          <a:xfrm>
            <a:off x="8890000" y="2514600"/>
            <a:ext cx="1854200" cy="0"/>
          </a:xfrm>
          <a:prstGeom prst="line">
            <a:avLst/>
          </a:prstGeom>
          <a:ln w="12700" cap="flat" cmpd="sng" algn="ctr">
            <a:solidFill>
              <a:srgbClr val="9879FF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ipse 7">
            <a:extLst>
              <a:ext uri="{FF2B5EF4-FFF2-40B4-BE49-F238E27FC236}">
                <a16:creationId xmlns:a16="http://schemas.microsoft.com/office/drawing/2014/main" id="{3FB37D0B-5C1D-8003-9570-735E958E0F5A}"/>
              </a:ext>
            </a:extLst>
          </p:cNvPr>
          <p:cNvSpPr/>
          <p:nvPr/>
        </p:nvSpPr>
        <p:spPr>
          <a:xfrm>
            <a:off x="9550400" y="1968500"/>
            <a:ext cx="533400" cy="533400"/>
          </a:xfrm>
          <a:prstGeom prst="ellipse">
            <a:avLst/>
          </a:prstGeom>
          <a:solidFill>
            <a:srgbClr val="5BE7F5">
              <a:alpha val="12000"/>
            </a:srgbClr>
          </a:solidFill>
          <a:ln w="0" cap="flat" cmpd="sng" algn="ctr">
            <a:solidFill>
              <a:srgbClr val="5BE7F5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F017131A-5496-D70C-ACA2-376380C4B48E}"/>
              </a:ext>
            </a:extLst>
          </p:cNvPr>
          <p:cNvSpPr/>
          <p:nvPr/>
        </p:nvSpPr>
        <p:spPr>
          <a:xfrm>
            <a:off x="9613900" y="2032000"/>
            <a:ext cx="406400" cy="406400"/>
          </a:xfrm>
          <a:prstGeom prst="ellipse">
            <a:avLst/>
          </a:prstGeom>
          <a:solidFill>
            <a:srgbClr val="5BE7F5">
              <a:alpha val="92000"/>
            </a:srgbClr>
          </a:solidFill>
          <a:ln w="0" cap="flat" cmpd="sng" algn="ctr">
            <a:solidFill>
              <a:srgbClr val="5BE7F5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7278CD7-6EFC-8D35-983F-03AC18934F6F}"/>
              </a:ext>
            </a:extLst>
          </p:cNvPr>
          <p:cNvSpPr txBox="1"/>
          <p:nvPr/>
        </p:nvSpPr>
        <p:spPr>
          <a:xfrm>
            <a:off x="9613900" y="2019300"/>
            <a:ext cx="406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b="1">
                <a:solidFill>
                  <a:srgbClr val="050816"/>
                </a:solidFill>
                <a:latin typeface="Cambria" panose="02040503050406030204" pitchFamily="18" charset="0"/>
              </a:rPr>
              <a:t>C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C20A701-45CA-F6E7-19C7-4D3675ECE63B}"/>
              </a:ext>
            </a:extLst>
          </p:cNvPr>
          <p:cNvSpPr txBox="1"/>
          <p:nvPr/>
        </p:nvSpPr>
        <p:spPr>
          <a:xfrm>
            <a:off x="660400" y="10922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4800" b="1">
                <a:solidFill>
                  <a:srgbClr val="F7FAFF"/>
                </a:solidFill>
                <a:latin typeface="Cambria" panose="02040503050406030204" pitchFamily="18" charset="0"/>
              </a:rPr>
              <a:t>CLON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FE6934D-1ACF-9F32-D375-AFD1CA601E8A}"/>
              </a:ext>
            </a:extLst>
          </p:cNvPr>
          <p:cNvSpPr txBox="1"/>
          <p:nvPr/>
        </p:nvSpPr>
        <p:spPr>
          <a:xfrm>
            <a:off x="698500" y="21209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2300" b="1">
                <a:solidFill>
                  <a:srgbClr val="5BE7F5"/>
                </a:solidFill>
                <a:latin typeface="Calibri" panose="020F0502020204030204" pitchFamily="34" charset="0"/>
              </a:rPr>
              <a:t>Sua vida. Suas regras. Seu clone.</a:t>
            </a:r>
            <a:endParaRPr lang="en-US" sz="2300" b="1">
              <a:solidFill>
                <a:srgbClr val="5BE7F5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43612A8-2E0D-4CC2-5B56-405AE287CABE}"/>
              </a:ext>
            </a:extLst>
          </p:cNvPr>
          <p:cNvSpPr txBox="1"/>
          <p:nvPr/>
        </p:nvSpPr>
        <p:spPr>
          <a:xfrm>
            <a:off x="698500" y="2895600"/>
            <a:ext cx="6159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2000">
                <a:solidFill>
                  <a:srgbClr val="C7D3EC"/>
                </a:solidFill>
                <a:latin typeface="Calibri" panose="020F0502020204030204" pitchFamily="34" charset="0"/>
              </a:rPr>
              <a:t>Um sistema operacional pessoal de IA que coordena trabalho, comunicação, vida e bem-estar — sem tirar você do controle.</a:t>
            </a:r>
            <a:endParaRPr lang="en-US" sz="2000">
              <a:solidFill>
                <a:srgbClr val="C7D3EC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C1397F8D-BEA7-A3EA-2A7D-43904FB41A05}"/>
              </a:ext>
            </a:extLst>
          </p:cNvPr>
          <p:cNvSpPr/>
          <p:nvPr/>
        </p:nvSpPr>
        <p:spPr>
          <a:xfrm>
            <a:off x="698500" y="4572000"/>
            <a:ext cx="2286000" cy="431800"/>
          </a:xfrm>
          <a:prstGeom prst="roundRect">
            <a:avLst/>
          </a:prstGeom>
          <a:solidFill>
            <a:srgbClr val="182242"/>
          </a:solidFill>
          <a:ln w="12700" cap="flat" cmpd="sng" algn="ctr">
            <a:solidFill>
              <a:srgbClr val="5BE7F5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6E8617B-B2BE-1640-2C5B-0D35F4D72825}"/>
              </a:ext>
            </a:extLst>
          </p:cNvPr>
          <p:cNvSpPr txBox="1"/>
          <p:nvPr/>
        </p:nvSpPr>
        <p:spPr>
          <a:xfrm>
            <a:off x="863600" y="4673600"/>
            <a:ext cx="1981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00" b="1">
                <a:solidFill>
                  <a:srgbClr val="5BE7F5"/>
                </a:solidFill>
                <a:latin typeface="Calibri" panose="020F0502020204030204" pitchFamily="34" charset="0"/>
              </a:rPr>
              <a:t>APRESENTAÇÃO · 3 MIN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93D2B2AB-7D01-C48C-108D-3262E1337A84}"/>
              </a:ext>
            </a:extLst>
          </p:cNvPr>
          <p:cNvSpPr txBox="1"/>
          <p:nvPr/>
        </p:nvSpPr>
        <p:spPr>
          <a:xfrm>
            <a:off x="698500" y="53467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>
                <a:solidFill>
                  <a:srgbClr val="7688AD"/>
                </a:solidFill>
                <a:latin typeface="Calibri" panose="020F0502020204030204" pitchFamily="34" charset="0"/>
              </a:rPr>
              <a:t>Open source · AI hackathon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9A21DDD-6015-3FED-DEC2-BE58E386D482}"/>
              </a:ext>
            </a:extLst>
          </p:cNvPr>
          <p:cNvSpPr txBox="1"/>
          <p:nvPr/>
        </p:nvSpPr>
        <p:spPr>
          <a:xfrm>
            <a:off x="11049000" y="4826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200" b="1">
                <a:solidFill>
                  <a:srgbClr val="7384A9"/>
                </a:solidFill>
                <a:latin typeface="Calibri" panose="020F0502020204030204" pitchFamily="34" charset="0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94406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06558BC-D13D-A233-73D1-11287F479B08}"/>
              </a:ext>
            </a:extLst>
          </p:cNvPr>
          <p:cNvSpPr txBox="1"/>
          <p:nvPr/>
        </p:nvSpPr>
        <p:spPr>
          <a:xfrm>
            <a:off x="609600" y="3556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 b="1">
                <a:solidFill>
                  <a:srgbClr val="5BE7F5"/>
                </a:solidFill>
                <a:latin typeface="Calibri" panose="020F0502020204030204" pitchFamily="34" charset="0"/>
              </a:rPr>
              <a:t>O PROBLEMA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622A743-4AC0-3CD7-EC67-0D5A4413169A}"/>
              </a:ext>
            </a:extLst>
          </p:cNvPr>
          <p:cNvSpPr txBox="1"/>
          <p:nvPr/>
        </p:nvSpPr>
        <p:spPr>
          <a:xfrm>
            <a:off x="609600" y="6985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3000" b="1">
                <a:solidFill>
                  <a:srgbClr val="101426"/>
                </a:solidFill>
                <a:latin typeface="Cambria" panose="02040503050406030204" pitchFamily="18" charset="0"/>
              </a:rPr>
              <a:t>Nossa vida digital está fragmentada</a:t>
            </a:r>
            <a:endParaRPr lang="en-US" sz="3000" b="1">
              <a:solidFill>
                <a:srgbClr val="101426"/>
              </a:solidFill>
              <a:latin typeface="Cambria" panose="020405030504060302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2922ADF-4C11-8F09-49C2-743890C81E9A}"/>
              </a:ext>
            </a:extLst>
          </p:cNvPr>
          <p:cNvSpPr txBox="1"/>
          <p:nvPr/>
        </p:nvSpPr>
        <p:spPr>
          <a:xfrm>
            <a:off x="11049000" y="4826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200" b="1">
                <a:solidFill>
                  <a:srgbClr val="5F6B85"/>
                </a:solidFill>
                <a:latin typeface="Calibri" panose="020F0502020204030204" pitchFamily="34" charset="0"/>
              </a:rPr>
              <a:t>02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BA2A21E-7AF9-3808-1E2D-AA55C31ABD7C}"/>
              </a:ext>
            </a:extLst>
          </p:cNvPr>
          <p:cNvSpPr txBox="1"/>
          <p:nvPr/>
        </p:nvSpPr>
        <p:spPr>
          <a:xfrm>
            <a:off x="609600" y="1498600"/>
            <a:ext cx="711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700">
                <a:solidFill>
                  <a:srgbClr val="46516B"/>
                </a:solidFill>
                <a:latin typeface="Calibri" panose="020F0502020204030204" pitchFamily="34" charset="0"/>
              </a:rPr>
              <a:t>Calendário, e-mail, tarefas, eventos e treino competem pela mesma agenda — mas não compartilham contexto.</a:t>
            </a:r>
            <a:endParaRPr lang="en-US" sz="1700">
              <a:solidFill>
                <a:srgbClr val="46516B"/>
              </a:solidFill>
              <a:latin typeface="Calibri" panose="020F0502020204030204" pitchFamily="34" charset="0"/>
            </a:endParaRP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C568E4F3-9A59-1B58-9C9F-5B70BAE904B9}"/>
              </a:ext>
            </a:extLst>
          </p:cNvPr>
          <p:cNvSpPr/>
          <p:nvPr/>
        </p:nvSpPr>
        <p:spPr>
          <a:xfrm>
            <a:off x="7937500" y="2882900"/>
            <a:ext cx="1651000" cy="1651000"/>
          </a:xfrm>
          <a:prstGeom prst="ellipse">
            <a:avLst/>
          </a:prstGeom>
          <a:solidFill>
            <a:srgbClr val="101A34"/>
          </a:solidFill>
          <a:ln w="0" cap="flat" cmpd="sng" algn="ctr">
            <a:solidFill>
              <a:srgbClr val="101A34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A27EF99-7866-2BF1-D010-F56C6EA56F26}"/>
              </a:ext>
            </a:extLst>
          </p:cNvPr>
          <p:cNvSpPr txBox="1"/>
          <p:nvPr/>
        </p:nvSpPr>
        <p:spPr>
          <a:xfrm>
            <a:off x="7937500" y="3340100"/>
            <a:ext cx="165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000" b="1">
                <a:solidFill>
                  <a:srgbClr val="F7FAFF"/>
                </a:solidFill>
                <a:latin typeface="Calibri" panose="020F0502020204030204" pitchFamily="34" charset="0"/>
              </a:rPr>
              <a:t>VOCÊ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53556EB2-848A-7C0F-592A-D2E5BFB330C7}"/>
              </a:ext>
            </a:extLst>
          </p:cNvPr>
          <p:cNvCxnSpPr/>
          <p:nvPr/>
        </p:nvCxnSpPr>
        <p:spPr>
          <a:xfrm flipH="1" flipV="1">
            <a:off x="6985000" y="2565400"/>
            <a:ext cx="1778000" cy="1143000"/>
          </a:xfrm>
          <a:prstGeom prst="line">
            <a:avLst/>
          </a:prstGeom>
          <a:ln w="15240" cap="flat" cmpd="sng" algn="ctr">
            <a:solidFill>
              <a:srgbClr val="A8B3C9">
                <a:alpha val="8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DFCE92B6-8DA2-46A0-D4C8-A35D96973089}"/>
              </a:ext>
            </a:extLst>
          </p:cNvPr>
          <p:cNvSpPr/>
          <p:nvPr/>
        </p:nvSpPr>
        <p:spPr>
          <a:xfrm>
            <a:off x="6286500" y="2133600"/>
            <a:ext cx="1397000" cy="863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5AA7FF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A67B272F-1C28-4309-DD37-8B58F1EC4B73}"/>
              </a:ext>
            </a:extLst>
          </p:cNvPr>
          <p:cNvSpPr/>
          <p:nvPr/>
        </p:nvSpPr>
        <p:spPr>
          <a:xfrm>
            <a:off x="6375400" y="2286000"/>
            <a:ext cx="254000" cy="254000"/>
          </a:xfrm>
          <a:prstGeom prst="ellipse">
            <a:avLst/>
          </a:prstGeom>
          <a:solidFill>
            <a:srgbClr val="5AA7FF">
              <a:alpha val="12000"/>
            </a:srgbClr>
          </a:solidFill>
          <a:ln w="0" cap="flat" cmpd="sng" algn="ctr">
            <a:solidFill>
              <a:srgbClr val="5AA7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DD69DF6C-E045-BA61-D63F-44E022111805}"/>
              </a:ext>
            </a:extLst>
          </p:cNvPr>
          <p:cNvSpPr/>
          <p:nvPr/>
        </p:nvSpPr>
        <p:spPr>
          <a:xfrm>
            <a:off x="6438900" y="2349500"/>
            <a:ext cx="127000" cy="127000"/>
          </a:xfrm>
          <a:prstGeom prst="ellipse">
            <a:avLst/>
          </a:prstGeom>
          <a:solidFill>
            <a:srgbClr val="5AA7FF">
              <a:alpha val="92000"/>
            </a:srgbClr>
          </a:solidFill>
          <a:ln w="0" cap="flat" cmpd="sng" algn="ctr">
            <a:solidFill>
              <a:srgbClr val="5AA7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569F18C-0369-9FDD-5242-930D3E6BE9D0}"/>
              </a:ext>
            </a:extLst>
          </p:cNvPr>
          <p:cNvSpPr txBox="1"/>
          <p:nvPr/>
        </p:nvSpPr>
        <p:spPr>
          <a:xfrm>
            <a:off x="6642100" y="236220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200" b="1">
                <a:solidFill>
                  <a:srgbClr val="1A2238"/>
                </a:solidFill>
                <a:latin typeface="Calibri" panose="020F0502020204030204" pitchFamily="34" charset="0"/>
              </a:rPr>
              <a:t>E-MAIL</a:t>
            </a:r>
          </a:p>
        </p:txBody>
      </p: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F3D629A7-833A-43A4-7F62-482E2C42CBFD}"/>
              </a:ext>
            </a:extLst>
          </p:cNvPr>
          <p:cNvCxnSpPr/>
          <p:nvPr/>
        </p:nvCxnSpPr>
        <p:spPr>
          <a:xfrm flipV="1">
            <a:off x="8763000" y="2565400"/>
            <a:ext cx="1587500" cy="1143000"/>
          </a:xfrm>
          <a:prstGeom prst="line">
            <a:avLst/>
          </a:prstGeom>
          <a:ln w="15240" cap="flat" cmpd="sng" algn="ctr">
            <a:solidFill>
              <a:srgbClr val="A8B3C9">
                <a:alpha val="8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CABE9D89-85D6-A18C-AA36-67CACD7AFFCE}"/>
              </a:ext>
            </a:extLst>
          </p:cNvPr>
          <p:cNvSpPr/>
          <p:nvPr/>
        </p:nvSpPr>
        <p:spPr>
          <a:xfrm>
            <a:off x="9652000" y="2133600"/>
            <a:ext cx="1397000" cy="863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9879FF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A6B603F1-27B8-62C7-0EC4-AEF2950DACEE}"/>
              </a:ext>
            </a:extLst>
          </p:cNvPr>
          <p:cNvSpPr/>
          <p:nvPr/>
        </p:nvSpPr>
        <p:spPr>
          <a:xfrm>
            <a:off x="9740900" y="2286000"/>
            <a:ext cx="254000" cy="254000"/>
          </a:xfrm>
          <a:prstGeom prst="ellipse">
            <a:avLst/>
          </a:prstGeom>
          <a:solidFill>
            <a:srgbClr val="9879FF">
              <a:alpha val="12000"/>
            </a:srgbClr>
          </a:solidFill>
          <a:ln w="0" cap="flat" cmpd="sng" algn="ctr">
            <a:solidFill>
              <a:srgbClr val="9879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7DE8C848-CA00-FBA9-79C7-BB423CBEB249}"/>
              </a:ext>
            </a:extLst>
          </p:cNvPr>
          <p:cNvSpPr/>
          <p:nvPr/>
        </p:nvSpPr>
        <p:spPr>
          <a:xfrm>
            <a:off x="9804400" y="2349500"/>
            <a:ext cx="127000" cy="127000"/>
          </a:xfrm>
          <a:prstGeom prst="ellipse">
            <a:avLst/>
          </a:prstGeom>
          <a:solidFill>
            <a:srgbClr val="9879FF">
              <a:alpha val="92000"/>
            </a:srgbClr>
          </a:solidFill>
          <a:ln w="0" cap="flat" cmpd="sng" algn="ctr">
            <a:solidFill>
              <a:srgbClr val="9879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2F27350-547D-A718-1DB6-3319B681E9D1}"/>
              </a:ext>
            </a:extLst>
          </p:cNvPr>
          <p:cNvSpPr txBox="1"/>
          <p:nvPr/>
        </p:nvSpPr>
        <p:spPr>
          <a:xfrm>
            <a:off x="10007600" y="236220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200" b="1">
                <a:solidFill>
                  <a:srgbClr val="1A2238"/>
                </a:solidFill>
                <a:latin typeface="Calibri" panose="020F0502020204030204" pitchFamily="34" charset="0"/>
              </a:rPr>
              <a:t>AGENDA</a:t>
            </a: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61E530A6-C4A5-5B95-071D-FF4516F5250D}"/>
              </a:ext>
            </a:extLst>
          </p:cNvPr>
          <p:cNvCxnSpPr/>
          <p:nvPr/>
        </p:nvCxnSpPr>
        <p:spPr>
          <a:xfrm flipH="1">
            <a:off x="6985000" y="3708400"/>
            <a:ext cx="1778000" cy="1231900"/>
          </a:xfrm>
          <a:prstGeom prst="line">
            <a:avLst/>
          </a:prstGeom>
          <a:ln w="15240" cap="flat" cmpd="sng" algn="ctr">
            <a:solidFill>
              <a:srgbClr val="A8B3C9">
                <a:alpha val="8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A77883BB-D085-15A6-3277-08D06C63DAF9}"/>
              </a:ext>
            </a:extLst>
          </p:cNvPr>
          <p:cNvSpPr/>
          <p:nvPr/>
        </p:nvSpPr>
        <p:spPr>
          <a:xfrm>
            <a:off x="6286500" y="4508500"/>
            <a:ext cx="1397000" cy="863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42D4C7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FBB4B1A0-BAFF-E23F-36AF-209230D67B0D}"/>
              </a:ext>
            </a:extLst>
          </p:cNvPr>
          <p:cNvSpPr/>
          <p:nvPr/>
        </p:nvSpPr>
        <p:spPr>
          <a:xfrm>
            <a:off x="6375400" y="4660900"/>
            <a:ext cx="254000" cy="254000"/>
          </a:xfrm>
          <a:prstGeom prst="ellipse">
            <a:avLst/>
          </a:prstGeom>
          <a:solidFill>
            <a:srgbClr val="42D4C7">
              <a:alpha val="12000"/>
            </a:srgbClr>
          </a:solidFill>
          <a:ln w="0" cap="flat" cmpd="sng" algn="ctr">
            <a:solidFill>
              <a:srgbClr val="42D4C7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5DC57A5D-8F9F-ABF9-1043-36A43378109B}"/>
              </a:ext>
            </a:extLst>
          </p:cNvPr>
          <p:cNvSpPr/>
          <p:nvPr/>
        </p:nvSpPr>
        <p:spPr>
          <a:xfrm>
            <a:off x="6438900" y="4724400"/>
            <a:ext cx="127000" cy="127000"/>
          </a:xfrm>
          <a:prstGeom prst="ellipse">
            <a:avLst/>
          </a:prstGeom>
          <a:solidFill>
            <a:srgbClr val="42D4C7">
              <a:alpha val="92000"/>
            </a:srgbClr>
          </a:solidFill>
          <a:ln w="0" cap="flat" cmpd="sng" algn="ctr">
            <a:solidFill>
              <a:srgbClr val="42D4C7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24DD61A6-41C8-A81E-88AB-063B984B4DC7}"/>
              </a:ext>
            </a:extLst>
          </p:cNvPr>
          <p:cNvSpPr txBox="1"/>
          <p:nvPr/>
        </p:nvSpPr>
        <p:spPr>
          <a:xfrm>
            <a:off x="6642100" y="473710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200" b="1">
                <a:solidFill>
                  <a:srgbClr val="1A2238"/>
                </a:solidFill>
                <a:latin typeface="Calibri" panose="020F0502020204030204" pitchFamily="34" charset="0"/>
              </a:rPr>
              <a:t>TAREFAS</a:t>
            </a:r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98A5A042-C9CC-4ACF-2506-5DFE587BBFDB}"/>
              </a:ext>
            </a:extLst>
          </p:cNvPr>
          <p:cNvCxnSpPr/>
          <p:nvPr/>
        </p:nvCxnSpPr>
        <p:spPr>
          <a:xfrm>
            <a:off x="8763000" y="3708400"/>
            <a:ext cx="1587500" cy="1231900"/>
          </a:xfrm>
          <a:prstGeom prst="line">
            <a:avLst/>
          </a:prstGeom>
          <a:ln w="15240" cap="flat" cmpd="sng" algn="ctr">
            <a:solidFill>
              <a:srgbClr val="A8B3C9">
                <a:alpha val="8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FB87CE2D-6B8F-B88E-1CE7-C4A0487B20C0}"/>
              </a:ext>
            </a:extLst>
          </p:cNvPr>
          <p:cNvSpPr/>
          <p:nvPr/>
        </p:nvSpPr>
        <p:spPr>
          <a:xfrm>
            <a:off x="9652000" y="4508500"/>
            <a:ext cx="1397000" cy="863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B9F36B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4C0C72E3-810C-56AD-9637-C8B4EFCB34AB}"/>
              </a:ext>
            </a:extLst>
          </p:cNvPr>
          <p:cNvSpPr/>
          <p:nvPr/>
        </p:nvSpPr>
        <p:spPr>
          <a:xfrm>
            <a:off x="9740900" y="4660900"/>
            <a:ext cx="254000" cy="254000"/>
          </a:xfrm>
          <a:prstGeom prst="ellipse">
            <a:avLst/>
          </a:prstGeom>
          <a:solidFill>
            <a:srgbClr val="B9F36B">
              <a:alpha val="12000"/>
            </a:srgbClr>
          </a:solidFill>
          <a:ln w="0" cap="flat" cmpd="sng" algn="ctr">
            <a:solidFill>
              <a:srgbClr val="B9F36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B597376A-987F-5A37-A3C2-2FF152586111}"/>
              </a:ext>
            </a:extLst>
          </p:cNvPr>
          <p:cNvSpPr/>
          <p:nvPr/>
        </p:nvSpPr>
        <p:spPr>
          <a:xfrm>
            <a:off x="9804400" y="4724400"/>
            <a:ext cx="127000" cy="127000"/>
          </a:xfrm>
          <a:prstGeom prst="ellipse">
            <a:avLst/>
          </a:prstGeom>
          <a:solidFill>
            <a:srgbClr val="B9F36B">
              <a:alpha val="92000"/>
            </a:srgbClr>
          </a:solidFill>
          <a:ln w="0" cap="flat" cmpd="sng" algn="ctr">
            <a:solidFill>
              <a:srgbClr val="B9F36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8DE72832-8739-CD43-6A78-C6BF94B0542E}"/>
              </a:ext>
            </a:extLst>
          </p:cNvPr>
          <p:cNvSpPr txBox="1"/>
          <p:nvPr/>
        </p:nvSpPr>
        <p:spPr>
          <a:xfrm>
            <a:off x="10007600" y="473710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200" b="1">
                <a:solidFill>
                  <a:srgbClr val="1A2238"/>
                </a:solidFill>
                <a:latin typeface="Calibri" panose="020F0502020204030204" pitchFamily="34" charset="0"/>
              </a:rPr>
              <a:t>TREINO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77B2D444-5309-7B1A-2499-0248E0B2C869}"/>
              </a:ext>
            </a:extLst>
          </p:cNvPr>
          <p:cNvSpPr/>
          <p:nvPr/>
        </p:nvSpPr>
        <p:spPr>
          <a:xfrm>
            <a:off x="635000" y="2717800"/>
            <a:ext cx="381000" cy="381000"/>
          </a:xfrm>
          <a:prstGeom prst="ellipse">
            <a:avLst/>
          </a:prstGeom>
          <a:solidFill>
            <a:srgbClr val="E3E8F4"/>
          </a:solidFill>
          <a:ln w="0" cap="flat" cmpd="sng" algn="ctr">
            <a:solidFill>
              <a:srgbClr val="E3E8F4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12CC7B1A-56F7-9621-5272-A71ACFFCF2B9}"/>
              </a:ext>
            </a:extLst>
          </p:cNvPr>
          <p:cNvSpPr txBox="1"/>
          <p:nvPr/>
        </p:nvSpPr>
        <p:spPr>
          <a:xfrm>
            <a:off x="635000" y="27178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00" b="1">
                <a:solidFill>
                  <a:srgbClr val="4E5B77"/>
                </a:solidFill>
                <a:latin typeface="Calibri" panose="020F0502020204030204" pitchFamily="34" charset="0"/>
              </a:rPr>
              <a:t>01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75836421-D640-E785-8261-7D478416265A}"/>
              </a:ext>
            </a:extLst>
          </p:cNvPr>
          <p:cNvSpPr txBox="1"/>
          <p:nvPr/>
        </p:nvSpPr>
        <p:spPr>
          <a:xfrm>
            <a:off x="1206500" y="2692400"/>
            <a:ext cx="368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 b="1">
                <a:solidFill>
                  <a:srgbClr val="18213A"/>
                </a:solidFill>
                <a:latin typeface="Calibri" panose="020F0502020204030204" pitchFamily="34" charset="0"/>
              </a:rPr>
              <a:t>Contexto quebrado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E334F6BC-6B4A-2AA9-1F93-85EB2D153450}"/>
              </a:ext>
            </a:extLst>
          </p:cNvPr>
          <p:cNvSpPr txBox="1"/>
          <p:nvPr/>
        </p:nvSpPr>
        <p:spPr>
          <a:xfrm>
            <a:off x="1206500" y="30099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100">
                <a:solidFill>
                  <a:srgbClr val="68748D"/>
                </a:solidFill>
                <a:latin typeface="Calibri" panose="020F0502020204030204" pitchFamily="34" charset="0"/>
              </a:rPr>
              <a:t>Cada aplicativo conhece apenas uma parte da rotina.</a:t>
            </a:r>
            <a:endParaRPr lang="en-US" sz="1100">
              <a:solidFill>
                <a:srgbClr val="68748D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1DDE09FD-38BE-B5E5-3C50-CF0FCDD66049}"/>
              </a:ext>
            </a:extLst>
          </p:cNvPr>
          <p:cNvSpPr/>
          <p:nvPr/>
        </p:nvSpPr>
        <p:spPr>
          <a:xfrm>
            <a:off x="635000" y="3784600"/>
            <a:ext cx="381000" cy="381000"/>
          </a:xfrm>
          <a:prstGeom prst="ellipse">
            <a:avLst/>
          </a:prstGeom>
          <a:solidFill>
            <a:srgbClr val="E3E8F4"/>
          </a:solidFill>
          <a:ln w="0" cap="flat" cmpd="sng" algn="ctr">
            <a:solidFill>
              <a:srgbClr val="E3E8F4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E121371E-2CCF-9A98-D56D-DD1893BA4B85}"/>
              </a:ext>
            </a:extLst>
          </p:cNvPr>
          <p:cNvSpPr txBox="1"/>
          <p:nvPr/>
        </p:nvSpPr>
        <p:spPr>
          <a:xfrm>
            <a:off x="635000" y="37846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00" b="1">
                <a:solidFill>
                  <a:srgbClr val="4E5B77"/>
                </a:solidFill>
                <a:latin typeface="Calibri" panose="020F0502020204030204" pitchFamily="34" charset="0"/>
              </a:rPr>
              <a:t>02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8ACBBCF1-CDF8-ECDC-3494-4E4F8B78A3EA}"/>
              </a:ext>
            </a:extLst>
          </p:cNvPr>
          <p:cNvSpPr txBox="1"/>
          <p:nvPr/>
        </p:nvSpPr>
        <p:spPr>
          <a:xfrm>
            <a:off x="1206500" y="3759200"/>
            <a:ext cx="368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 b="1">
                <a:solidFill>
                  <a:srgbClr val="18213A"/>
                </a:solidFill>
                <a:latin typeface="Calibri" panose="020F0502020204030204" pitchFamily="34" charset="0"/>
              </a:rPr>
              <a:t>Decisões conflitantes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E22D6D9B-CA5D-E6E5-F209-84A26851087C}"/>
              </a:ext>
            </a:extLst>
          </p:cNvPr>
          <p:cNvSpPr txBox="1"/>
          <p:nvPr/>
        </p:nvSpPr>
        <p:spPr>
          <a:xfrm>
            <a:off x="1206500" y="40767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100">
                <a:solidFill>
                  <a:srgbClr val="68748D"/>
                </a:solidFill>
                <a:latin typeface="Calibri" panose="020F0502020204030204" pitchFamily="34" charset="0"/>
              </a:rPr>
              <a:t>Uma prioridade ocupa o horário que outro app tratou como livre.</a:t>
            </a:r>
            <a:endParaRPr lang="en-US" sz="1100">
              <a:solidFill>
                <a:srgbClr val="68748D"/>
              </a:solidFill>
              <a:latin typeface="Calibri" panose="020F0502020204030204" pitchFamily="34" charset="0"/>
            </a:endParaRP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9115FE78-924F-20B1-CA28-16B411BE0014}"/>
              </a:ext>
            </a:extLst>
          </p:cNvPr>
          <p:cNvSpPr/>
          <p:nvPr/>
        </p:nvSpPr>
        <p:spPr>
          <a:xfrm>
            <a:off x="635000" y="4851400"/>
            <a:ext cx="381000" cy="381000"/>
          </a:xfrm>
          <a:prstGeom prst="ellipse">
            <a:avLst/>
          </a:prstGeom>
          <a:solidFill>
            <a:srgbClr val="E3E8F4"/>
          </a:solidFill>
          <a:ln w="0" cap="flat" cmpd="sng" algn="ctr">
            <a:solidFill>
              <a:srgbClr val="E3E8F4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01732DAF-A0A6-F77F-7691-64FE47BA3E57}"/>
              </a:ext>
            </a:extLst>
          </p:cNvPr>
          <p:cNvSpPr txBox="1"/>
          <p:nvPr/>
        </p:nvSpPr>
        <p:spPr>
          <a:xfrm>
            <a:off x="635000" y="48514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00" b="1">
                <a:solidFill>
                  <a:srgbClr val="4E5B77"/>
                </a:solidFill>
                <a:latin typeface="Calibri" panose="020F0502020204030204" pitchFamily="34" charset="0"/>
              </a:rPr>
              <a:t>03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DE628ECB-5E9F-7131-3A4C-80A5A8D648F9}"/>
              </a:ext>
            </a:extLst>
          </p:cNvPr>
          <p:cNvSpPr txBox="1"/>
          <p:nvPr/>
        </p:nvSpPr>
        <p:spPr>
          <a:xfrm>
            <a:off x="1206500" y="4826000"/>
            <a:ext cx="368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 b="1">
                <a:solidFill>
                  <a:srgbClr val="18213A"/>
                </a:solidFill>
                <a:latin typeface="Calibri" panose="020F0502020204030204" pitchFamily="34" charset="0"/>
              </a:rPr>
              <a:t>Automação sem confiança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29CFBA4C-7394-C1AE-1092-881B3F9A3DDE}"/>
              </a:ext>
            </a:extLst>
          </p:cNvPr>
          <p:cNvSpPr txBox="1"/>
          <p:nvPr/>
        </p:nvSpPr>
        <p:spPr>
          <a:xfrm>
            <a:off x="1206500" y="51435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100">
                <a:solidFill>
                  <a:srgbClr val="68748D"/>
                </a:solidFill>
                <a:latin typeface="Calibri" panose="020F0502020204030204" pitchFamily="34" charset="0"/>
              </a:rPr>
              <a:t>Agentes que agem sem explicar elevam o risco.</a:t>
            </a:r>
            <a:endParaRPr lang="en-US" sz="1100">
              <a:solidFill>
                <a:srgbClr val="68748D"/>
              </a:solidFill>
              <a:latin typeface="Calibri" panose="020F0502020204030204" pitchFamily="34" charset="0"/>
            </a:endParaRP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6F106E96-4CC9-5D40-5FB1-7148648BF6C1}"/>
              </a:ext>
            </a:extLst>
          </p:cNvPr>
          <p:cNvSpPr txBox="1"/>
          <p:nvPr/>
        </p:nvSpPr>
        <p:spPr>
          <a:xfrm>
            <a:off x="609600" y="64135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900">
                <a:solidFill>
                  <a:srgbClr val="69738A"/>
                </a:solidFill>
                <a:latin typeface="Calibri" panose="020F0502020204030204" pitchFamily="34" charset="0"/>
              </a:rPr>
              <a:t>CLON · sistema operacional pessoal de IA</a:t>
            </a:r>
            <a:endParaRPr lang="en-US" sz="900">
              <a:solidFill>
                <a:srgbClr val="69738A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060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76F6D36-13E7-971C-F5D6-E7689D5E30EB}"/>
              </a:ext>
            </a:extLst>
          </p:cNvPr>
          <p:cNvSpPr txBox="1"/>
          <p:nvPr/>
        </p:nvSpPr>
        <p:spPr>
          <a:xfrm>
            <a:off x="609600" y="3556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 b="1">
                <a:solidFill>
                  <a:srgbClr val="5BE7F5"/>
                </a:solidFill>
                <a:latin typeface="Calibri" panose="020F0502020204030204" pitchFamily="34" charset="0"/>
              </a:rPr>
              <a:t>A SOLUÇÃO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8939764-35CB-EE34-FC61-4F604EF06B10}"/>
              </a:ext>
            </a:extLst>
          </p:cNvPr>
          <p:cNvSpPr txBox="1"/>
          <p:nvPr/>
        </p:nvSpPr>
        <p:spPr>
          <a:xfrm>
            <a:off x="609600" y="6985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3000" b="1">
                <a:solidFill>
                  <a:srgbClr val="F7FAFF"/>
                </a:solidFill>
                <a:latin typeface="Cambria" panose="02040503050406030204" pitchFamily="18" charset="0"/>
              </a:rPr>
              <a:t>Um agente mestre. Quatro especialistas.</a:t>
            </a:r>
            <a:endParaRPr lang="en-US" sz="3000" b="1">
              <a:solidFill>
                <a:srgbClr val="F7FAFF"/>
              </a:solidFill>
              <a:latin typeface="Cambria" panose="020405030504060302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B5B46D2-7B08-FB35-D719-D2E06A2EEC69}"/>
              </a:ext>
            </a:extLst>
          </p:cNvPr>
          <p:cNvSpPr txBox="1"/>
          <p:nvPr/>
        </p:nvSpPr>
        <p:spPr>
          <a:xfrm>
            <a:off x="11049000" y="4826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200" b="1">
                <a:solidFill>
                  <a:srgbClr val="8FA1C7"/>
                </a:solidFill>
                <a:latin typeface="Calibri" panose="020F0502020204030204" pitchFamily="34" charset="0"/>
              </a:rPr>
              <a:t>03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71B690D-76BE-5A4C-F0C8-CCF30A0C2D09}"/>
              </a:ext>
            </a:extLst>
          </p:cNvPr>
          <p:cNvSpPr txBox="1"/>
          <p:nvPr/>
        </p:nvSpPr>
        <p:spPr>
          <a:xfrm>
            <a:off x="609600" y="14097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600">
                <a:solidFill>
                  <a:srgbClr val="AAB8D2"/>
                </a:solidFill>
                <a:latin typeface="Calibri" panose="020F0502020204030204" pitchFamily="34" charset="0"/>
              </a:rPr>
              <a:t>O Master Clone entende a intenção, distribui o trabalho e reúne uma resposta coerente.</a:t>
            </a:r>
            <a:endParaRPr lang="en-US" sz="1600">
              <a:solidFill>
                <a:srgbClr val="AAB8D2"/>
              </a:solidFill>
              <a:latin typeface="Calibri" panose="020F0502020204030204" pitchFamily="34" charset="0"/>
            </a:endParaRP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9E495D73-5BDB-097E-6352-E93D5C52ABD4}"/>
              </a:ext>
            </a:extLst>
          </p:cNvPr>
          <p:cNvSpPr/>
          <p:nvPr/>
        </p:nvSpPr>
        <p:spPr>
          <a:xfrm>
            <a:off x="4648200" y="2286000"/>
            <a:ext cx="2895600" cy="2895600"/>
          </a:xfrm>
          <a:prstGeom prst="ellipse">
            <a:avLst/>
          </a:prstGeom>
          <a:solidFill>
            <a:srgbClr val="5BE7F5">
              <a:alpha val="7000"/>
            </a:srgbClr>
          </a:solidFill>
          <a:ln w="0" cap="flat" cmpd="sng" algn="ctr">
            <a:solidFill>
              <a:srgbClr val="5BE7F5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FF456E37-F68A-F9DA-1187-DB9F9E84AA0E}"/>
              </a:ext>
            </a:extLst>
          </p:cNvPr>
          <p:cNvSpPr/>
          <p:nvPr/>
        </p:nvSpPr>
        <p:spPr>
          <a:xfrm>
            <a:off x="5041900" y="2679700"/>
            <a:ext cx="2108200" cy="2108200"/>
          </a:xfrm>
          <a:prstGeom prst="ellipse">
            <a:avLst/>
          </a:prstGeom>
          <a:solidFill>
            <a:srgbClr val="0C132B"/>
          </a:solidFill>
          <a:ln w="25400" cap="flat" cmpd="sng" algn="ctr">
            <a:solidFill>
              <a:srgbClr val="5BE7F5">
                <a:alpha val="8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FA7F6A86-77BB-7CE3-BC53-9BC5DC24E14C}"/>
              </a:ext>
            </a:extLst>
          </p:cNvPr>
          <p:cNvSpPr/>
          <p:nvPr/>
        </p:nvSpPr>
        <p:spPr>
          <a:xfrm>
            <a:off x="5359400" y="2997200"/>
            <a:ext cx="1473200" cy="1473200"/>
          </a:xfrm>
          <a:prstGeom prst="ellipse">
            <a:avLst/>
          </a:prstGeom>
          <a:solidFill>
            <a:srgbClr val="151F42">
              <a:alpha val="88000"/>
            </a:srgbClr>
          </a:solidFill>
          <a:ln w="12700" cap="flat" cmpd="sng" algn="ctr">
            <a:solidFill>
              <a:srgbClr val="9879FF">
                <a:alpha val="4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B2C1736-3EFD-44B1-B1D2-34FEDC6ED75D}"/>
              </a:ext>
            </a:extLst>
          </p:cNvPr>
          <p:cNvSpPr txBox="1"/>
          <p:nvPr/>
        </p:nvSpPr>
        <p:spPr>
          <a:xfrm>
            <a:off x="5359400" y="3340100"/>
            <a:ext cx="1473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b="1">
                <a:solidFill>
                  <a:srgbClr val="F7FAFF"/>
                </a:solidFill>
                <a:latin typeface="Cambria" panose="02040503050406030204" pitchFamily="18" charset="0"/>
              </a:rPr>
              <a:t>MASTER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C2FB76C-B654-FB3D-1EBB-13B9C5EA614E}"/>
              </a:ext>
            </a:extLst>
          </p:cNvPr>
          <p:cNvSpPr txBox="1"/>
          <p:nvPr/>
        </p:nvSpPr>
        <p:spPr>
          <a:xfrm>
            <a:off x="5359400" y="3784600"/>
            <a:ext cx="1473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100">
                <a:solidFill>
                  <a:srgbClr val="5BE7F5"/>
                </a:solidFill>
                <a:latin typeface="Calibri" panose="020F0502020204030204" pitchFamily="34" charset="0"/>
              </a:rPr>
              <a:t>coordena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A485F71A-C7BF-4B31-920F-D631811A467B}"/>
              </a:ext>
            </a:extLst>
          </p:cNvPr>
          <p:cNvSpPr/>
          <p:nvPr/>
        </p:nvSpPr>
        <p:spPr>
          <a:xfrm>
            <a:off x="698500" y="2095500"/>
            <a:ext cx="3149600" cy="965200"/>
          </a:xfrm>
          <a:prstGeom prst="roundRect">
            <a:avLst/>
          </a:prstGeom>
          <a:solidFill>
            <a:srgbClr val="111A35"/>
          </a:solidFill>
          <a:ln w="12700" cap="flat" cmpd="sng" algn="ctr">
            <a:solidFill>
              <a:srgbClr val="5AA7FF">
                <a:alpha val="32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127000" dist="50800" dir="5400000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8D63C4AD-651C-CDE3-C218-A9997230C097}"/>
              </a:ext>
            </a:extLst>
          </p:cNvPr>
          <p:cNvSpPr/>
          <p:nvPr/>
        </p:nvSpPr>
        <p:spPr>
          <a:xfrm>
            <a:off x="876300" y="2260600"/>
            <a:ext cx="431800" cy="431800"/>
          </a:xfrm>
          <a:prstGeom prst="ellipse">
            <a:avLst/>
          </a:prstGeom>
          <a:solidFill>
            <a:srgbClr val="5AA7FF">
              <a:alpha val="92000"/>
            </a:srgbClr>
          </a:solidFill>
          <a:ln w="0" cap="flat" cmpd="sng" algn="ctr">
            <a:solidFill>
              <a:srgbClr val="5AA7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90E15EB-AA64-BBF2-5EAC-E2BEAA072144}"/>
              </a:ext>
            </a:extLst>
          </p:cNvPr>
          <p:cNvSpPr txBox="1"/>
          <p:nvPr/>
        </p:nvSpPr>
        <p:spPr>
          <a:xfrm>
            <a:off x="876300" y="22606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 b="1">
                <a:solidFill>
                  <a:srgbClr val="07101F"/>
                </a:solidFill>
                <a:latin typeface="Calibri" panose="020F0502020204030204" pitchFamily="34" charset="0"/>
              </a:rPr>
              <a:t>C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2FF151C-6468-1ECD-0557-5B7AC70C4459}"/>
              </a:ext>
            </a:extLst>
          </p:cNvPr>
          <p:cNvSpPr txBox="1"/>
          <p:nvPr/>
        </p:nvSpPr>
        <p:spPr>
          <a:xfrm>
            <a:off x="1435100" y="2247900"/>
            <a:ext cx="2260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>
                <a:solidFill>
                  <a:srgbClr val="F7FAFF"/>
                </a:solidFill>
                <a:latin typeface="Calibri" panose="020F0502020204030204" pitchFamily="34" charset="0"/>
              </a:rPr>
              <a:t>Comunicação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B4681D1-7FCE-512D-BC74-5A025789A13C}"/>
              </a:ext>
            </a:extLst>
          </p:cNvPr>
          <p:cNvSpPr txBox="1"/>
          <p:nvPr/>
        </p:nvSpPr>
        <p:spPr>
          <a:xfrm>
            <a:off x="1435100" y="2578100"/>
            <a:ext cx="2260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>
                <a:solidFill>
                  <a:srgbClr val="9AAAC9"/>
                </a:solidFill>
                <a:latin typeface="Calibri" panose="020F0502020204030204" pitchFamily="34" charset="0"/>
              </a:rPr>
              <a:t>Triagem, reuniões e rascunhos.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6C0DE8A1-9422-715E-F500-638F26C29291}"/>
              </a:ext>
            </a:extLst>
          </p:cNvPr>
          <p:cNvSpPr/>
          <p:nvPr/>
        </p:nvSpPr>
        <p:spPr>
          <a:xfrm>
            <a:off x="698500" y="4127500"/>
            <a:ext cx="3149600" cy="965200"/>
          </a:xfrm>
          <a:prstGeom prst="roundRect">
            <a:avLst/>
          </a:prstGeom>
          <a:solidFill>
            <a:srgbClr val="111A35"/>
          </a:solidFill>
          <a:ln w="12700" cap="flat" cmpd="sng" algn="ctr">
            <a:solidFill>
              <a:srgbClr val="9879FF">
                <a:alpha val="32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127000" dist="50800" dir="5400000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58B3A268-51F4-2B61-B168-1E1DCD4E9E66}"/>
              </a:ext>
            </a:extLst>
          </p:cNvPr>
          <p:cNvSpPr/>
          <p:nvPr/>
        </p:nvSpPr>
        <p:spPr>
          <a:xfrm>
            <a:off x="876300" y="4292600"/>
            <a:ext cx="431800" cy="431800"/>
          </a:xfrm>
          <a:prstGeom prst="ellipse">
            <a:avLst/>
          </a:prstGeom>
          <a:solidFill>
            <a:srgbClr val="9879FF">
              <a:alpha val="92000"/>
            </a:srgbClr>
          </a:solidFill>
          <a:ln w="0" cap="flat" cmpd="sng" algn="ctr">
            <a:solidFill>
              <a:srgbClr val="9879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76F99FA0-74DB-F0D2-A4EE-C9E385264D4B}"/>
              </a:ext>
            </a:extLst>
          </p:cNvPr>
          <p:cNvSpPr txBox="1"/>
          <p:nvPr/>
        </p:nvSpPr>
        <p:spPr>
          <a:xfrm>
            <a:off x="876300" y="42926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 b="1">
                <a:solidFill>
                  <a:srgbClr val="07101F"/>
                </a:solidFill>
                <a:latin typeface="Calibri" panose="020F0502020204030204" pitchFamily="34" charset="0"/>
              </a:rPr>
              <a:t>W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159725F-8379-C9E2-A6DD-D400205B7324}"/>
              </a:ext>
            </a:extLst>
          </p:cNvPr>
          <p:cNvSpPr txBox="1"/>
          <p:nvPr/>
        </p:nvSpPr>
        <p:spPr>
          <a:xfrm>
            <a:off x="1435100" y="4279900"/>
            <a:ext cx="2260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>
                <a:solidFill>
                  <a:srgbClr val="F7FAFF"/>
                </a:solidFill>
                <a:latin typeface="Calibri" panose="020F0502020204030204" pitchFamily="34" charset="0"/>
              </a:rPr>
              <a:t>Trabalho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27FF307D-FC23-313A-9B87-29B366B35F72}"/>
              </a:ext>
            </a:extLst>
          </p:cNvPr>
          <p:cNvSpPr txBox="1"/>
          <p:nvPr/>
        </p:nvSpPr>
        <p:spPr>
          <a:xfrm>
            <a:off x="1435100" y="4610100"/>
            <a:ext cx="2260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>
                <a:solidFill>
                  <a:srgbClr val="9AAAC9"/>
                </a:solidFill>
                <a:latin typeface="Calibri" panose="020F0502020204030204" pitchFamily="34" charset="0"/>
              </a:rPr>
              <a:t>Prioridades, foco e briefings.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A20611D6-FCF2-06F4-7A9B-F364A581F40C}"/>
              </a:ext>
            </a:extLst>
          </p:cNvPr>
          <p:cNvSpPr/>
          <p:nvPr/>
        </p:nvSpPr>
        <p:spPr>
          <a:xfrm>
            <a:off x="8343900" y="2095500"/>
            <a:ext cx="3149600" cy="965200"/>
          </a:xfrm>
          <a:prstGeom prst="roundRect">
            <a:avLst/>
          </a:prstGeom>
          <a:solidFill>
            <a:srgbClr val="111A35"/>
          </a:solidFill>
          <a:ln w="12700" cap="flat" cmpd="sng" algn="ctr">
            <a:solidFill>
              <a:srgbClr val="42D4C7">
                <a:alpha val="32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127000" dist="50800" dir="5400000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4DB07EA6-9983-6EA6-8733-014CD323A47D}"/>
              </a:ext>
            </a:extLst>
          </p:cNvPr>
          <p:cNvSpPr/>
          <p:nvPr/>
        </p:nvSpPr>
        <p:spPr>
          <a:xfrm>
            <a:off x="8521700" y="2260600"/>
            <a:ext cx="431800" cy="431800"/>
          </a:xfrm>
          <a:prstGeom prst="ellipse">
            <a:avLst/>
          </a:prstGeom>
          <a:solidFill>
            <a:srgbClr val="42D4C7">
              <a:alpha val="92000"/>
            </a:srgbClr>
          </a:solidFill>
          <a:ln w="0" cap="flat" cmpd="sng" algn="ctr">
            <a:solidFill>
              <a:srgbClr val="42D4C7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7B4A4937-3F72-4320-36A7-7BB3B78DAC55}"/>
              </a:ext>
            </a:extLst>
          </p:cNvPr>
          <p:cNvSpPr txBox="1"/>
          <p:nvPr/>
        </p:nvSpPr>
        <p:spPr>
          <a:xfrm>
            <a:off x="8521700" y="22606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 b="1">
                <a:solidFill>
                  <a:srgbClr val="07101F"/>
                </a:solidFill>
                <a:latin typeface="Calibri" panose="020F0502020204030204" pitchFamily="34" charset="0"/>
              </a:rPr>
              <a:t>L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E0E7A120-4B5B-8AD4-AE91-06F39564230C}"/>
              </a:ext>
            </a:extLst>
          </p:cNvPr>
          <p:cNvSpPr txBox="1"/>
          <p:nvPr/>
        </p:nvSpPr>
        <p:spPr>
          <a:xfrm>
            <a:off x="9080500" y="2247900"/>
            <a:ext cx="2260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>
                <a:solidFill>
                  <a:srgbClr val="F7FAFF"/>
                </a:solidFill>
                <a:latin typeface="Calibri" panose="020F0502020204030204" pitchFamily="34" charset="0"/>
              </a:rPr>
              <a:t>Vida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8490EDA5-133B-E57C-9ED0-3208F193CDB9}"/>
              </a:ext>
            </a:extLst>
          </p:cNvPr>
          <p:cNvSpPr txBox="1"/>
          <p:nvPr/>
        </p:nvSpPr>
        <p:spPr>
          <a:xfrm>
            <a:off x="9080500" y="2578100"/>
            <a:ext cx="2260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100">
                <a:solidFill>
                  <a:srgbClr val="9AAAC9"/>
                </a:solidFill>
                <a:latin typeface="Calibri" panose="020F0502020204030204" pitchFamily="34" charset="0"/>
              </a:rPr>
              <a:t>Eventos alinhados a tempo e interesses.</a:t>
            </a:r>
            <a:endParaRPr lang="en-US" sz="1100">
              <a:solidFill>
                <a:srgbClr val="9AAAC9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CC220F26-2D3D-1D7D-5664-06FAAAC764D8}"/>
              </a:ext>
            </a:extLst>
          </p:cNvPr>
          <p:cNvSpPr/>
          <p:nvPr/>
        </p:nvSpPr>
        <p:spPr>
          <a:xfrm>
            <a:off x="8343900" y="4127500"/>
            <a:ext cx="3149600" cy="965200"/>
          </a:xfrm>
          <a:prstGeom prst="roundRect">
            <a:avLst/>
          </a:prstGeom>
          <a:solidFill>
            <a:srgbClr val="111A35"/>
          </a:solidFill>
          <a:ln w="12700" cap="flat" cmpd="sng" algn="ctr">
            <a:solidFill>
              <a:srgbClr val="B9F36B">
                <a:alpha val="32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127000" dist="50800" dir="5400000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31E1971A-A711-B782-AC56-6EDA783BE36A}"/>
              </a:ext>
            </a:extLst>
          </p:cNvPr>
          <p:cNvSpPr/>
          <p:nvPr/>
        </p:nvSpPr>
        <p:spPr>
          <a:xfrm>
            <a:off x="8521700" y="4292600"/>
            <a:ext cx="431800" cy="431800"/>
          </a:xfrm>
          <a:prstGeom prst="ellipse">
            <a:avLst/>
          </a:prstGeom>
          <a:solidFill>
            <a:srgbClr val="B9F36B">
              <a:alpha val="92000"/>
            </a:srgbClr>
          </a:solidFill>
          <a:ln w="0" cap="flat" cmpd="sng" algn="ctr">
            <a:solidFill>
              <a:srgbClr val="B9F36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EBB6FB64-400A-4510-D47C-43FD24E42E8D}"/>
              </a:ext>
            </a:extLst>
          </p:cNvPr>
          <p:cNvSpPr txBox="1"/>
          <p:nvPr/>
        </p:nvSpPr>
        <p:spPr>
          <a:xfrm>
            <a:off x="8521700" y="42926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 b="1">
                <a:solidFill>
                  <a:srgbClr val="07101F"/>
                </a:solidFill>
                <a:latin typeface="Calibri" panose="020F0502020204030204" pitchFamily="34" charset="0"/>
              </a:rPr>
              <a:t>F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93E6AE98-4742-DF3E-7CCA-31C781885CE2}"/>
              </a:ext>
            </a:extLst>
          </p:cNvPr>
          <p:cNvSpPr txBox="1"/>
          <p:nvPr/>
        </p:nvSpPr>
        <p:spPr>
          <a:xfrm>
            <a:off x="9080500" y="4279900"/>
            <a:ext cx="2260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b="1">
                <a:solidFill>
                  <a:srgbClr val="F7FAFF"/>
                </a:solidFill>
                <a:latin typeface="Calibri" panose="020F0502020204030204" pitchFamily="34" charset="0"/>
              </a:rPr>
              <a:t>Fitness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78F78D62-B3F2-754B-69C8-620941B011F9}"/>
              </a:ext>
            </a:extLst>
          </p:cNvPr>
          <p:cNvSpPr txBox="1"/>
          <p:nvPr/>
        </p:nvSpPr>
        <p:spPr>
          <a:xfrm>
            <a:off x="9080500" y="4610100"/>
            <a:ext cx="2260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>
                <a:solidFill>
                  <a:srgbClr val="9AAAC9"/>
                </a:solidFill>
                <a:latin typeface="Calibri" panose="020F0502020204030204" pitchFamily="34" charset="0"/>
              </a:rPr>
              <a:t>Treinos, agenda e consistência.</a:t>
            </a:r>
          </a:p>
        </p:txBody>
      </p: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71DD9856-0B6F-BE49-6FDE-E701BC4358E0}"/>
              </a:ext>
            </a:extLst>
          </p:cNvPr>
          <p:cNvCxnSpPr/>
          <p:nvPr/>
        </p:nvCxnSpPr>
        <p:spPr>
          <a:xfrm>
            <a:off x="3848100" y="2578100"/>
            <a:ext cx="1193800" cy="723900"/>
          </a:xfrm>
          <a:prstGeom prst="line">
            <a:avLst/>
          </a:prstGeom>
          <a:ln w="20320" cap="flat" cmpd="sng" algn="ctr">
            <a:solidFill>
              <a:srgbClr val="5AA7FF">
                <a:alpha val="85000"/>
              </a:srgbClr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BAD69255-8A69-A3F0-5CE7-9FDC03688374}"/>
              </a:ext>
            </a:extLst>
          </p:cNvPr>
          <p:cNvCxnSpPr/>
          <p:nvPr/>
        </p:nvCxnSpPr>
        <p:spPr>
          <a:xfrm flipV="1">
            <a:off x="3848100" y="4191000"/>
            <a:ext cx="1193800" cy="419100"/>
          </a:xfrm>
          <a:prstGeom prst="line">
            <a:avLst/>
          </a:prstGeom>
          <a:ln w="20320" cap="flat" cmpd="sng" algn="ctr">
            <a:solidFill>
              <a:srgbClr val="9879FF">
                <a:alpha val="85000"/>
              </a:srgbClr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1AE90EFA-FE38-DD81-B849-9DEB15133CE7}"/>
              </a:ext>
            </a:extLst>
          </p:cNvPr>
          <p:cNvCxnSpPr/>
          <p:nvPr/>
        </p:nvCxnSpPr>
        <p:spPr>
          <a:xfrm flipH="1">
            <a:off x="7150100" y="2578100"/>
            <a:ext cx="1193800" cy="723900"/>
          </a:xfrm>
          <a:prstGeom prst="line">
            <a:avLst/>
          </a:prstGeom>
          <a:ln w="20320" cap="flat" cmpd="sng" algn="ctr">
            <a:solidFill>
              <a:srgbClr val="42D4C7">
                <a:alpha val="85000"/>
              </a:srgbClr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id="{E3288620-C6E0-132C-3AD1-7F1FEBF3358C}"/>
              </a:ext>
            </a:extLst>
          </p:cNvPr>
          <p:cNvCxnSpPr/>
          <p:nvPr/>
        </p:nvCxnSpPr>
        <p:spPr>
          <a:xfrm flipH="1" flipV="1">
            <a:off x="7150100" y="4191000"/>
            <a:ext cx="1193800" cy="419100"/>
          </a:xfrm>
          <a:prstGeom prst="line">
            <a:avLst/>
          </a:prstGeom>
          <a:ln w="20320" cap="flat" cmpd="sng" algn="ctr">
            <a:solidFill>
              <a:srgbClr val="B9F36B">
                <a:alpha val="85000"/>
              </a:srgbClr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7320AD02-7477-5E4A-5951-09D4514F7E48}"/>
              </a:ext>
            </a:extLst>
          </p:cNvPr>
          <p:cNvSpPr/>
          <p:nvPr/>
        </p:nvSpPr>
        <p:spPr>
          <a:xfrm>
            <a:off x="4406900" y="5499100"/>
            <a:ext cx="3378200" cy="558800"/>
          </a:xfrm>
          <a:prstGeom prst="roundRect">
            <a:avLst/>
          </a:prstGeom>
          <a:solidFill>
            <a:srgbClr val="141D3A"/>
          </a:solidFill>
          <a:ln w="12700" cap="flat" cmpd="sng" algn="ctr">
            <a:solidFill>
              <a:srgbClr val="5BE7F5">
                <a:alpha val="4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F5AD40C1-DE1B-F242-8813-06AB44C2580F}"/>
              </a:ext>
            </a:extLst>
          </p:cNvPr>
          <p:cNvSpPr txBox="1"/>
          <p:nvPr/>
        </p:nvSpPr>
        <p:spPr>
          <a:xfrm>
            <a:off x="4406900" y="5562600"/>
            <a:ext cx="3378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100" b="1">
                <a:solidFill>
                  <a:srgbClr val="5BE7F5"/>
                </a:solidFill>
                <a:latin typeface="Calibri" panose="020F0502020204030204" pitchFamily="34" charset="0"/>
              </a:rPr>
              <a:t>CALENDÁRIO COMPARTILHADO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4F56E1BF-E3B2-B75B-4FBE-BFBD60218CC2}"/>
              </a:ext>
            </a:extLst>
          </p:cNvPr>
          <p:cNvSpPr txBox="1"/>
          <p:nvPr/>
        </p:nvSpPr>
        <p:spPr>
          <a:xfrm>
            <a:off x="4406900" y="5816600"/>
            <a:ext cx="3378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pt-BR" sz="900">
                <a:solidFill>
                  <a:srgbClr val="9AAAC9"/>
                </a:solidFill>
                <a:latin typeface="Calibri" panose="020F0502020204030204" pitchFamily="34" charset="0"/>
              </a:rPr>
              <a:t>uma única fonte de disponibilidade</a:t>
            </a:r>
            <a:endParaRPr lang="en-US" sz="900">
              <a:solidFill>
                <a:srgbClr val="9AAAC9"/>
              </a:solidFill>
              <a:latin typeface="Calibri" panose="020F0502020204030204" pitchFamily="34" charset="0"/>
            </a:endParaRP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8220C48F-91CE-EEF3-4CC5-26A101B1D61C}"/>
              </a:ext>
            </a:extLst>
          </p:cNvPr>
          <p:cNvSpPr txBox="1"/>
          <p:nvPr/>
        </p:nvSpPr>
        <p:spPr>
          <a:xfrm>
            <a:off x="609600" y="64135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900">
                <a:solidFill>
                  <a:srgbClr val="7384A9"/>
                </a:solidFill>
                <a:latin typeface="Calibri" panose="020F0502020204030204" pitchFamily="34" charset="0"/>
              </a:rPr>
              <a:t>Especialização sem silos: todos usam serviços compartilhados.</a:t>
            </a:r>
            <a:endParaRPr lang="en-US" sz="900">
              <a:solidFill>
                <a:srgbClr val="7384A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5208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F93B9DE-F7A8-23C8-42AE-1E59CAB0D28C}"/>
              </a:ext>
            </a:extLst>
          </p:cNvPr>
          <p:cNvSpPr txBox="1"/>
          <p:nvPr/>
        </p:nvSpPr>
        <p:spPr>
          <a:xfrm>
            <a:off x="609600" y="3556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 b="1">
                <a:solidFill>
                  <a:srgbClr val="5BE7F5"/>
                </a:solidFill>
                <a:latin typeface="Calibri" panose="020F0502020204030204" pitchFamily="34" charset="0"/>
              </a:rPr>
              <a:t>COMO FUNCIONA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5B4B9BD-3238-F9AF-CEC0-1E79F114DE94}"/>
              </a:ext>
            </a:extLst>
          </p:cNvPr>
          <p:cNvSpPr txBox="1"/>
          <p:nvPr/>
        </p:nvSpPr>
        <p:spPr>
          <a:xfrm>
            <a:off x="609600" y="6985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3000" b="1">
                <a:solidFill>
                  <a:srgbClr val="101426"/>
                </a:solidFill>
                <a:latin typeface="Cambria" panose="02040503050406030204" pitchFamily="18" charset="0"/>
              </a:rPr>
              <a:t>Da intenção à ação, com você no circuito</a:t>
            </a:r>
            <a:endParaRPr lang="en-US" sz="3000" b="1">
              <a:solidFill>
                <a:srgbClr val="101426"/>
              </a:solidFill>
              <a:latin typeface="Cambria" panose="020405030504060302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B17E10C-85F6-3F24-B180-368DA0BF498F}"/>
              </a:ext>
            </a:extLst>
          </p:cNvPr>
          <p:cNvSpPr txBox="1"/>
          <p:nvPr/>
        </p:nvSpPr>
        <p:spPr>
          <a:xfrm>
            <a:off x="11049000" y="4826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200" b="1">
                <a:solidFill>
                  <a:srgbClr val="5F6B85"/>
                </a:solidFill>
                <a:latin typeface="Calibri" panose="020F0502020204030204" pitchFamily="34" charset="0"/>
              </a:rPr>
              <a:t>04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5779928-7FA1-771F-0310-4A5391078235}"/>
              </a:ext>
            </a:extLst>
          </p:cNvPr>
          <p:cNvSpPr txBox="1"/>
          <p:nvPr/>
        </p:nvSpPr>
        <p:spPr>
          <a:xfrm>
            <a:off x="609600" y="1485900"/>
            <a:ext cx="685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600" i="1">
                <a:solidFill>
                  <a:srgbClr val="4A5875"/>
                </a:solidFill>
                <a:latin typeface="Calibri" panose="020F0502020204030204" pitchFamily="34" charset="0"/>
              </a:rPr>
              <a:t>Exemplo: “Ajude-me a organizar amanhã.”</a:t>
            </a:r>
            <a:endParaRPr lang="en-US" sz="1600" i="1">
              <a:solidFill>
                <a:srgbClr val="4A5875"/>
              </a:solidFill>
              <a:latin typeface="Calibri" panose="020F0502020204030204" pitchFamily="34" charset="0"/>
            </a:endParaRP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E3E8E8E-D5E7-9906-32F3-06160C150725}"/>
              </a:ext>
            </a:extLst>
          </p:cNvPr>
          <p:cNvSpPr/>
          <p:nvPr/>
        </p:nvSpPr>
        <p:spPr>
          <a:xfrm>
            <a:off x="609600" y="2413000"/>
            <a:ext cx="685800" cy="685800"/>
          </a:xfrm>
          <a:prstGeom prst="ellipse">
            <a:avLst/>
          </a:prstGeom>
          <a:solidFill>
            <a:srgbClr val="5BE7F5"/>
          </a:solidFill>
          <a:ln w="0" cap="flat" cmpd="sng" algn="ctr">
            <a:solidFill>
              <a:srgbClr val="5BE7F5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8482BA9-3FDB-78A2-0E39-D64997CDDA4D}"/>
              </a:ext>
            </a:extLst>
          </p:cNvPr>
          <p:cNvSpPr txBox="1"/>
          <p:nvPr/>
        </p:nvSpPr>
        <p:spPr>
          <a:xfrm>
            <a:off x="609600" y="2413000"/>
            <a:ext cx="685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000" b="1">
                <a:solidFill>
                  <a:srgbClr val="07101F"/>
                </a:solidFill>
                <a:latin typeface="Cambria" panose="02040503050406030204" pitchFamily="18" charset="0"/>
              </a:rPr>
              <a:t>1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395435C-73D6-A063-3587-67295730238C}"/>
              </a:ext>
            </a:extLst>
          </p:cNvPr>
          <p:cNvSpPr txBox="1"/>
          <p:nvPr/>
        </p:nvSpPr>
        <p:spPr>
          <a:xfrm>
            <a:off x="457200" y="3352800"/>
            <a:ext cx="149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100" b="1">
                <a:solidFill>
                  <a:srgbClr val="16213A"/>
                </a:solidFill>
                <a:latin typeface="Calibri" panose="020F0502020204030204" pitchFamily="34" charset="0"/>
              </a:rPr>
              <a:t>ENTENDER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2A5A550-EE2D-2096-FF70-4A364F9DCA88}"/>
              </a:ext>
            </a:extLst>
          </p:cNvPr>
          <p:cNvSpPr txBox="1"/>
          <p:nvPr/>
        </p:nvSpPr>
        <p:spPr>
          <a:xfrm>
            <a:off x="355600" y="3695700"/>
            <a:ext cx="170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>
                <a:solidFill>
                  <a:srgbClr val="69758E"/>
                </a:solidFill>
                <a:latin typeface="Calibri" panose="020F0502020204030204" pitchFamily="34" charset="0"/>
              </a:rPr>
              <a:t>Interpreta o pedido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DEF72198-DF1C-4C76-9BA1-4F7D6FF0FD34}"/>
              </a:ext>
            </a:extLst>
          </p:cNvPr>
          <p:cNvSpPr/>
          <p:nvPr/>
        </p:nvSpPr>
        <p:spPr>
          <a:xfrm>
            <a:off x="2870200" y="2413000"/>
            <a:ext cx="685800" cy="685800"/>
          </a:xfrm>
          <a:prstGeom prst="ellipse">
            <a:avLst/>
          </a:prstGeom>
          <a:solidFill>
            <a:srgbClr val="9879FF"/>
          </a:solidFill>
          <a:ln w="0" cap="flat" cmpd="sng" algn="ctr">
            <a:solidFill>
              <a:srgbClr val="9879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A2DCB38-EC41-1CBE-60F3-C2F441146C9D}"/>
              </a:ext>
            </a:extLst>
          </p:cNvPr>
          <p:cNvSpPr txBox="1"/>
          <p:nvPr/>
        </p:nvSpPr>
        <p:spPr>
          <a:xfrm>
            <a:off x="2870200" y="2413000"/>
            <a:ext cx="685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000" b="1">
                <a:solidFill>
                  <a:srgbClr val="07101F"/>
                </a:solidFill>
                <a:latin typeface="Cambria" panose="02040503050406030204" pitchFamily="18" charset="0"/>
              </a:rPr>
              <a:t>2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0F5D6C9-2FE9-FEF8-5C80-562A81105721}"/>
              </a:ext>
            </a:extLst>
          </p:cNvPr>
          <p:cNvSpPr txBox="1"/>
          <p:nvPr/>
        </p:nvSpPr>
        <p:spPr>
          <a:xfrm>
            <a:off x="2717800" y="3352800"/>
            <a:ext cx="149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100" b="1">
                <a:solidFill>
                  <a:srgbClr val="16213A"/>
                </a:solidFill>
                <a:latin typeface="Calibri" panose="020F0502020204030204" pitchFamily="34" charset="0"/>
              </a:rPr>
              <a:t>DELEGAR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FB98049-56C2-7D78-F9B7-D9E04D2D85BA}"/>
              </a:ext>
            </a:extLst>
          </p:cNvPr>
          <p:cNvSpPr txBox="1"/>
          <p:nvPr/>
        </p:nvSpPr>
        <p:spPr>
          <a:xfrm>
            <a:off x="2616200" y="3695700"/>
            <a:ext cx="170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>
                <a:solidFill>
                  <a:srgbClr val="69758E"/>
                </a:solidFill>
                <a:latin typeface="Calibri" panose="020F0502020204030204" pitchFamily="34" charset="0"/>
              </a:rPr>
              <a:t>Aciona os clones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3501E89D-47A1-82AB-2F5F-12E3E8383192}"/>
              </a:ext>
            </a:extLst>
          </p:cNvPr>
          <p:cNvSpPr/>
          <p:nvPr/>
        </p:nvSpPr>
        <p:spPr>
          <a:xfrm>
            <a:off x="5130800" y="2413000"/>
            <a:ext cx="685800" cy="685800"/>
          </a:xfrm>
          <a:prstGeom prst="ellipse">
            <a:avLst/>
          </a:prstGeom>
          <a:solidFill>
            <a:srgbClr val="5AA7FF"/>
          </a:solidFill>
          <a:ln w="0" cap="flat" cmpd="sng" algn="ctr">
            <a:solidFill>
              <a:srgbClr val="5AA7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4AB48BEB-2B6E-6A18-DFC7-55D98744E02C}"/>
              </a:ext>
            </a:extLst>
          </p:cNvPr>
          <p:cNvSpPr txBox="1"/>
          <p:nvPr/>
        </p:nvSpPr>
        <p:spPr>
          <a:xfrm>
            <a:off x="5130800" y="2413000"/>
            <a:ext cx="685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000" b="1">
                <a:solidFill>
                  <a:srgbClr val="07101F"/>
                </a:solidFill>
                <a:latin typeface="Cambria" panose="02040503050406030204" pitchFamily="18" charset="0"/>
              </a:rPr>
              <a:t>3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59F7E29E-18BA-7FEB-7BDD-DC670A0F9021}"/>
              </a:ext>
            </a:extLst>
          </p:cNvPr>
          <p:cNvSpPr txBox="1"/>
          <p:nvPr/>
        </p:nvSpPr>
        <p:spPr>
          <a:xfrm>
            <a:off x="4978400" y="3352800"/>
            <a:ext cx="149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100" b="1">
                <a:solidFill>
                  <a:srgbClr val="16213A"/>
                </a:solidFill>
                <a:latin typeface="Calibri" panose="020F0502020204030204" pitchFamily="34" charset="0"/>
              </a:rPr>
              <a:t>CONTEXTUALIZAR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A134787-847F-50C4-FAEF-7C15731D4371}"/>
              </a:ext>
            </a:extLst>
          </p:cNvPr>
          <p:cNvSpPr txBox="1"/>
          <p:nvPr/>
        </p:nvSpPr>
        <p:spPr>
          <a:xfrm>
            <a:off x="4876800" y="3695700"/>
            <a:ext cx="170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>
                <a:solidFill>
                  <a:srgbClr val="69758E"/>
                </a:solidFill>
                <a:latin typeface="Calibri" panose="020F0502020204030204" pitchFamily="34" charset="0"/>
              </a:rPr>
              <a:t>Lê agenda e dados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EBC58694-D507-A160-080E-1EFDFEB404FA}"/>
              </a:ext>
            </a:extLst>
          </p:cNvPr>
          <p:cNvSpPr/>
          <p:nvPr/>
        </p:nvSpPr>
        <p:spPr>
          <a:xfrm>
            <a:off x="7391400" y="2413000"/>
            <a:ext cx="685800" cy="685800"/>
          </a:xfrm>
          <a:prstGeom prst="ellipse">
            <a:avLst/>
          </a:prstGeom>
          <a:solidFill>
            <a:srgbClr val="42D4C7"/>
          </a:solidFill>
          <a:ln w="0" cap="flat" cmpd="sng" algn="ctr">
            <a:solidFill>
              <a:srgbClr val="42D4C7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67CECBEF-0AC0-BD67-5C0C-BD241060075E}"/>
              </a:ext>
            </a:extLst>
          </p:cNvPr>
          <p:cNvSpPr txBox="1"/>
          <p:nvPr/>
        </p:nvSpPr>
        <p:spPr>
          <a:xfrm>
            <a:off x="7391400" y="2413000"/>
            <a:ext cx="685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000" b="1">
                <a:solidFill>
                  <a:srgbClr val="07101F"/>
                </a:solidFill>
                <a:latin typeface="Cambria" panose="02040503050406030204" pitchFamily="18" charset="0"/>
              </a:rPr>
              <a:t>4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3B4FAB22-29C9-8681-D2A5-E9BECC76E903}"/>
              </a:ext>
            </a:extLst>
          </p:cNvPr>
          <p:cNvSpPr txBox="1"/>
          <p:nvPr/>
        </p:nvSpPr>
        <p:spPr>
          <a:xfrm>
            <a:off x="7239000" y="3352800"/>
            <a:ext cx="149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100" b="1">
                <a:solidFill>
                  <a:srgbClr val="16213A"/>
                </a:solidFill>
                <a:latin typeface="Calibri" panose="020F0502020204030204" pitchFamily="34" charset="0"/>
              </a:rPr>
              <a:t>APROVAR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3897FEA-1E46-B651-2B3E-C64689DF08E1}"/>
              </a:ext>
            </a:extLst>
          </p:cNvPr>
          <p:cNvSpPr txBox="1"/>
          <p:nvPr/>
        </p:nvSpPr>
        <p:spPr>
          <a:xfrm>
            <a:off x="7137400" y="3695700"/>
            <a:ext cx="170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>
                <a:solidFill>
                  <a:srgbClr val="69758E"/>
                </a:solidFill>
                <a:latin typeface="Calibri" panose="020F0502020204030204" pitchFamily="34" charset="0"/>
              </a:rPr>
              <a:t>Mostra a mudança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14EA1F4D-0B22-5A31-72DB-03D2A9F1E6AD}"/>
              </a:ext>
            </a:extLst>
          </p:cNvPr>
          <p:cNvSpPr/>
          <p:nvPr/>
        </p:nvSpPr>
        <p:spPr>
          <a:xfrm>
            <a:off x="9652000" y="2413000"/>
            <a:ext cx="685800" cy="685800"/>
          </a:xfrm>
          <a:prstGeom prst="ellipse">
            <a:avLst/>
          </a:prstGeom>
          <a:solidFill>
            <a:srgbClr val="B9F36B"/>
          </a:solidFill>
          <a:ln w="0" cap="flat" cmpd="sng" algn="ctr">
            <a:solidFill>
              <a:srgbClr val="B9F36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2E9C983C-0B29-CBA4-677C-1C3F42E3CF24}"/>
              </a:ext>
            </a:extLst>
          </p:cNvPr>
          <p:cNvSpPr txBox="1"/>
          <p:nvPr/>
        </p:nvSpPr>
        <p:spPr>
          <a:xfrm>
            <a:off x="9652000" y="2413000"/>
            <a:ext cx="685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000" b="1">
                <a:solidFill>
                  <a:srgbClr val="07101F"/>
                </a:solidFill>
                <a:latin typeface="Cambria" panose="02040503050406030204" pitchFamily="18" charset="0"/>
              </a:rPr>
              <a:t>5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F6D420CB-629B-8F35-454D-99FA14E4CBC3}"/>
              </a:ext>
            </a:extLst>
          </p:cNvPr>
          <p:cNvSpPr txBox="1"/>
          <p:nvPr/>
        </p:nvSpPr>
        <p:spPr>
          <a:xfrm>
            <a:off x="9499600" y="3352800"/>
            <a:ext cx="1498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100" b="1">
                <a:solidFill>
                  <a:srgbClr val="16213A"/>
                </a:solidFill>
                <a:latin typeface="Calibri" panose="020F0502020204030204" pitchFamily="34" charset="0"/>
              </a:rPr>
              <a:t>EXECUTAR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6B74C770-E9A4-E33E-E011-D86391AF0CB0}"/>
              </a:ext>
            </a:extLst>
          </p:cNvPr>
          <p:cNvSpPr txBox="1"/>
          <p:nvPr/>
        </p:nvSpPr>
        <p:spPr>
          <a:xfrm>
            <a:off x="9398000" y="3695700"/>
            <a:ext cx="170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000">
                <a:solidFill>
                  <a:srgbClr val="69758E"/>
                </a:solidFill>
                <a:latin typeface="Calibri" panose="020F0502020204030204" pitchFamily="34" charset="0"/>
              </a:rPr>
              <a:t>Age e registra</a:t>
            </a:r>
          </a:p>
        </p:txBody>
      </p: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FA97EAF5-203F-4814-01A4-419B423547C2}"/>
              </a:ext>
            </a:extLst>
          </p:cNvPr>
          <p:cNvCxnSpPr/>
          <p:nvPr/>
        </p:nvCxnSpPr>
        <p:spPr>
          <a:xfrm>
            <a:off x="1397000" y="2755900"/>
            <a:ext cx="1358900" cy="0"/>
          </a:xfrm>
          <a:prstGeom prst="line">
            <a:avLst/>
          </a:prstGeom>
          <a:ln w="21590" cap="flat" cmpd="sng" algn="ctr">
            <a:solidFill>
              <a:srgbClr val="A5B1C9">
                <a:alpha val="90000"/>
              </a:srgbClr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647478FE-63DE-35A3-8044-D6035A4EFC9D}"/>
              </a:ext>
            </a:extLst>
          </p:cNvPr>
          <p:cNvCxnSpPr/>
          <p:nvPr/>
        </p:nvCxnSpPr>
        <p:spPr>
          <a:xfrm>
            <a:off x="3657600" y="2755900"/>
            <a:ext cx="1358900" cy="0"/>
          </a:xfrm>
          <a:prstGeom prst="line">
            <a:avLst/>
          </a:prstGeom>
          <a:ln w="21590" cap="flat" cmpd="sng" algn="ctr">
            <a:solidFill>
              <a:srgbClr val="A5B1C9">
                <a:alpha val="90000"/>
              </a:srgbClr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04A7A689-CFFA-F615-98EA-32B7EBC54F3F}"/>
              </a:ext>
            </a:extLst>
          </p:cNvPr>
          <p:cNvCxnSpPr/>
          <p:nvPr/>
        </p:nvCxnSpPr>
        <p:spPr>
          <a:xfrm>
            <a:off x="5918200" y="2755900"/>
            <a:ext cx="1358900" cy="0"/>
          </a:xfrm>
          <a:prstGeom prst="line">
            <a:avLst/>
          </a:prstGeom>
          <a:ln w="21590" cap="flat" cmpd="sng" algn="ctr">
            <a:solidFill>
              <a:srgbClr val="A5B1C9">
                <a:alpha val="90000"/>
              </a:srgbClr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4716C50B-D436-6C97-64E6-AB31B361BD35}"/>
              </a:ext>
            </a:extLst>
          </p:cNvPr>
          <p:cNvCxnSpPr/>
          <p:nvPr/>
        </p:nvCxnSpPr>
        <p:spPr>
          <a:xfrm>
            <a:off x="8178800" y="2755900"/>
            <a:ext cx="1358900" cy="0"/>
          </a:xfrm>
          <a:prstGeom prst="line">
            <a:avLst/>
          </a:prstGeom>
          <a:ln w="21590" cap="flat" cmpd="sng" algn="ctr">
            <a:solidFill>
              <a:srgbClr val="A5B1C9">
                <a:alpha val="90000"/>
              </a:srgbClr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FA828099-F41A-A3FB-8AC2-82538C9605AD}"/>
              </a:ext>
            </a:extLst>
          </p:cNvPr>
          <p:cNvSpPr/>
          <p:nvPr/>
        </p:nvSpPr>
        <p:spPr>
          <a:xfrm>
            <a:off x="2006600" y="4749800"/>
            <a:ext cx="8178800" cy="1066800"/>
          </a:xfrm>
          <a:prstGeom prst="roundRect">
            <a:avLst/>
          </a:prstGeom>
          <a:solidFill>
            <a:srgbClr val="101A34"/>
          </a:solidFill>
          <a:ln w="12700" cap="flat" cmpd="sng" algn="ctr">
            <a:solidFill>
              <a:srgbClr val="5BE7F5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CDBC3496-652B-D28C-610A-582BD2FDFC3B}"/>
              </a:ext>
            </a:extLst>
          </p:cNvPr>
          <p:cNvSpPr txBox="1"/>
          <p:nvPr/>
        </p:nvSpPr>
        <p:spPr>
          <a:xfrm>
            <a:off x="2336800" y="49403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 b="1">
                <a:solidFill>
                  <a:srgbClr val="5BE7F5"/>
                </a:solidFill>
                <a:latin typeface="Calibri" panose="020F0502020204030204" pitchFamily="34" charset="0"/>
              </a:rPr>
              <a:t>CONTROLE HUMANO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622C45FD-899F-B1F2-AFBC-E0573C9DBB3D}"/>
              </a:ext>
            </a:extLst>
          </p:cNvPr>
          <p:cNvSpPr txBox="1"/>
          <p:nvPr/>
        </p:nvSpPr>
        <p:spPr>
          <a:xfrm>
            <a:off x="2336800" y="5283200"/>
            <a:ext cx="749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400">
                <a:solidFill>
                  <a:srgbClr val="F7FAFF"/>
                </a:solidFill>
                <a:latin typeface="Calibri" panose="020F0502020204030204" pitchFamily="34" charset="0"/>
              </a:rPr>
              <a:t>Leituras podem ser automáticas. Mudanças no calendário e rascunhos seguem permissões e aprovação.</a:t>
            </a:r>
            <a:endParaRPr lang="en-US" sz="1400">
              <a:solidFill>
                <a:srgbClr val="F7FAFF"/>
              </a:solidFill>
              <a:latin typeface="Calibri" panose="020F0502020204030204" pitchFamily="34" charset="0"/>
            </a:endParaRP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1D58BD3D-0401-CEC0-4680-B3752C755A77}"/>
              </a:ext>
            </a:extLst>
          </p:cNvPr>
          <p:cNvSpPr txBox="1"/>
          <p:nvPr/>
        </p:nvSpPr>
        <p:spPr>
          <a:xfrm>
            <a:off x="609600" y="64135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900">
                <a:solidFill>
                  <a:srgbClr val="69738A"/>
                </a:solidFill>
                <a:latin typeface="Calibri" panose="020F0502020204030204" pitchFamily="34" charset="0"/>
              </a:rPr>
              <a:t>Cada etapa gera progresso, artefatos e histórico auditável.</a:t>
            </a:r>
            <a:endParaRPr lang="en-US" sz="900">
              <a:solidFill>
                <a:srgbClr val="69738A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4778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B7F7D3A-E002-3A5C-D359-2C0682977353}"/>
              </a:ext>
            </a:extLst>
          </p:cNvPr>
          <p:cNvSpPr txBox="1"/>
          <p:nvPr/>
        </p:nvSpPr>
        <p:spPr>
          <a:xfrm>
            <a:off x="609600" y="3556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 b="1">
                <a:solidFill>
                  <a:srgbClr val="5BE7F5"/>
                </a:solidFill>
                <a:latin typeface="Calibri" panose="020F0502020204030204" pitchFamily="34" charset="0"/>
              </a:rPr>
              <a:t>DIFERENCIAIS + MVP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E49AAC4-F369-FBCF-AAF0-C0E72E135FE4}"/>
              </a:ext>
            </a:extLst>
          </p:cNvPr>
          <p:cNvSpPr txBox="1"/>
          <p:nvPr/>
        </p:nvSpPr>
        <p:spPr>
          <a:xfrm>
            <a:off x="609600" y="6985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3000" b="1">
                <a:solidFill>
                  <a:srgbClr val="F7FAFF"/>
                </a:solidFill>
                <a:latin typeface="Cambria" panose="02040503050406030204" pitchFamily="18" charset="0"/>
              </a:rPr>
              <a:t>Confiança que já pode ser demonstrada</a:t>
            </a:r>
            <a:endParaRPr lang="en-US" sz="3000" b="1">
              <a:solidFill>
                <a:srgbClr val="F7FAFF"/>
              </a:solidFill>
              <a:latin typeface="Cambria" panose="020405030504060302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515CB04-8DE0-EEB7-25ED-AB052032FE4F}"/>
              </a:ext>
            </a:extLst>
          </p:cNvPr>
          <p:cNvSpPr txBox="1"/>
          <p:nvPr/>
        </p:nvSpPr>
        <p:spPr>
          <a:xfrm>
            <a:off x="11049000" y="4826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200" b="1">
                <a:solidFill>
                  <a:srgbClr val="8FA1C7"/>
                </a:solidFill>
                <a:latin typeface="Calibri" panose="020F0502020204030204" pitchFamily="34" charset="0"/>
              </a:rPr>
              <a:t>05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8725B7D-1CD8-9C94-B4BB-96DCC41546B9}"/>
              </a:ext>
            </a:extLst>
          </p:cNvPr>
          <p:cNvSpPr txBox="1"/>
          <p:nvPr/>
        </p:nvSpPr>
        <p:spPr>
          <a:xfrm>
            <a:off x="609600" y="1422400"/>
            <a:ext cx="990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500">
                <a:solidFill>
                  <a:srgbClr val="AAB8D2"/>
                </a:solidFill>
                <a:latin typeface="Calibri" panose="020F0502020204030204" pitchFamily="34" charset="0"/>
              </a:rPr>
              <a:t>O MVP funciona sem chaves de API e deixa claro o que é simulado e o que é real.</a:t>
            </a:r>
            <a:endParaRPr lang="en-US" sz="1500">
              <a:solidFill>
                <a:srgbClr val="AAB8D2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F7C38F36-F8BA-FECB-C2E5-2687B93F86A8}"/>
              </a:ext>
            </a:extLst>
          </p:cNvPr>
          <p:cNvSpPr/>
          <p:nvPr/>
        </p:nvSpPr>
        <p:spPr>
          <a:xfrm>
            <a:off x="609600" y="2006600"/>
            <a:ext cx="3429000" cy="1574800"/>
          </a:xfrm>
          <a:prstGeom prst="roundRect">
            <a:avLst/>
          </a:prstGeom>
          <a:solidFill>
            <a:srgbClr val="111A35"/>
          </a:solidFill>
          <a:ln w="12700" cap="flat" cmpd="sng" algn="ctr">
            <a:solidFill>
              <a:srgbClr val="5BE7F5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DBCCEEA5-8141-0F83-58F8-9636077D8745}"/>
              </a:ext>
            </a:extLst>
          </p:cNvPr>
          <p:cNvSpPr/>
          <p:nvPr/>
        </p:nvSpPr>
        <p:spPr>
          <a:xfrm>
            <a:off x="838200" y="2209800"/>
            <a:ext cx="381000" cy="381000"/>
          </a:xfrm>
          <a:prstGeom prst="ellipse">
            <a:avLst/>
          </a:prstGeom>
          <a:solidFill>
            <a:srgbClr val="5BE7F5">
              <a:alpha val="95000"/>
            </a:srgbClr>
          </a:solidFill>
          <a:ln w="0" cap="flat" cmpd="sng" algn="ctr">
            <a:solidFill>
              <a:srgbClr val="5BE7F5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02A8019-3055-20D9-CB59-FD5118E8328F}"/>
              </a:ext>
            </a:extLst>
          </p:cNvPr>
          <p:cNvSpPr txBox="1"/>
          <p:nvPr/>
        </p:nvSpPr>
        <p:spPr>
          <a:xfrm>
            <a:off x="838200" y="22098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00" b="1">
                <a:solidFill>
                  <a:srgbClr val="050816"/>
                </a:solidFill>
                <a:latin typeface="Calibri" panose="020F0502020204030204" pitchFamily="34" charset="0"/>
              </a:rPr>
              <a:t>01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18D49A5-17D5-8390-F8E1-EED2C7E1496A}"/>
              </a:ext>
            </a:extLst>
          </p:cNvPr>
          <p:cNvSpPr txBox="1"/>
          <p:nvPr/>
        </p:nvSpPr>
        <p:spPr>
          <a:xfrm>
            <a:off x="1371600" y="2209800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 b="1">
                <a:solidFill>
                  <a:srgbClr val="F7FAFF"/>
                </a:solidFill>
                <a:latin typeface="Calibri" panose="020F0502020204030204" pitchFamily="34" charset="0"/>
              </a:rPr>
              <a:t>Controle humano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0D50B18-2CA7-335C-142F-B5B0A6F2E899}"/>
              </a:ext>
            </a:extLst>
          </p:cNvPr>
          <p:cNvSpPr txBox="1"/>
          <p:nvPr/>
        </p:nvSpPr>
        <p:spPr>
          <a:xfrm>
            <a:off x="838200" y="2717800"/>
            <a:ext cx="297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000">
                <a:solidFill>
                  <a:srgbClr val="9AAAC9"/>
                </a:solidFill>
                <a:latin typeface="Calibri" panose="020F0502020204030204" pitchFamily="34" charset="0"/>
              </a:rPr>
              <a:t>E-mails não são enviados. Mudanças relevantes exigem permissão e aprovação.</a:t>
            </a:r>
            <a:endParaRPr lang="en-US" sz="1000">
              <a:solidFill>
                <a:srgbClr val="9AAAC9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AAF4D824-0AFF-7D0D-E0FC-75E000C12973}"/>
              </a:ext>
            </a:extLst>
          </p:cNvPr>
          <p:cNvSpPr/>
          <p:nvPr/>
        </p:nvSpPr>
        <p:spPr>
          <a:xfrm>
            <a:off x="4381500" y="2006600"/>
            <a:ext cx="3429000" cy="1574800"/>
          </a:xfrm>
          <a:prstGeom prst="roundRect">
            <a:avLst/>
          </a:prstGeom>
          <a:solidFill>
            <a:srgbClr val="111A35"/>
          </a:solidFill>
          <a:ln w="12700" cap="flat" cmpd="sng" algn="ctr">
            <a:solidFill>
              <a:srgbClr val="9879FF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986A16E6-6E8A-BBEE-4688-480E4B09CE0A}"/>
              </a:ext>
            </a:extLst>
          </p:cNvPr>
          <p:cNvSpPr/>
          <p:nvPr/>
        </p:nvSpPr>
        <p:spPr>
          <a:xfrm>
            <a:off x="4610100" y="2209800"/>
            <a:ext cx="381000" cy="381000"/>
          </a:xfrm>
          <a:prstGeom prst="ellipse">
            <a:avLst/>
          </a:prstGeom>
          <a:solidFill>
            <a:srgbClr val="9879FF">
              <a:alpha val="95000"/>
            </a:srgbClr>
          </a:solidFill>
          <a:ln w="0" cap="flat" cmpd="sng" algn="ctr">
            <a:solidFill>
              <a:srgbClr val="9879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15F07AF-C71A-9CAD-6CCD-8A9B5FB769BA}"/>
              </a:ext>
            </a:extLst>
          </p:cNvPr>
          <p:cNvSpPr txBox="1"/>
          <p:nvPr/>
        </p:nvSpPr>
        <p:spPr>
          <a:xfrm>
            <a:off x="4610100" y="22098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00" b="1">
                <a:solidFill>
                  <a:srgbClr val="050816"/>
                </a:solidFill>
                <a:latin typeface="Calibri" panose="020F0502020204030204" pitchFamily="34" charset="0"/>
              </a:rPr>
              <a:t>02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690483E-03B8-B03F-88D4-1C449B073F6B}"/>
              </a:ext>
            </a:extLst>
          </p:cNvPr>
          <p:cNvSpPr txBox="1"/>
          <p:nvPr/>
        </p:nvSpPr>
        <p:spPr>
          <a:xfrm>
            <a:off x="5143500" y="2209800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 b="1">
                <a:solidFill>
                  <a:srgbClr val="F7FAFF"/>
                </a:solidFill>
                <a:latin typeface="Calibri" panose="020F0502020204030204" pitchFamily="34" charset="0"/>
              </a:rPr>
              <a:t>Segurança por design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8F47090-76B1-EBD5-74EE-BDD35E9B918F}"/>
              </a:ext>
            </a:extLst>
          </p:cNvPr>
          <p:cNvSpPr txBox="1"/>
          <p:nvPr/>
        </p:nvSpPr>
        <p:spPr>
          <a:xfrm>
            <a:off x="4610100" y="2717800"/>
            <a:ext cx="297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000">
                <a:solidFill>
                  <a:srgbClr val="9AAAC9"/>
                </a:solidFill>
                <a:latin typeface="Calibri" panose="020F0502020204030204" pitchFamily="34" charset="0"/>
              </a:rPr>
              <a:t>Prompt injection é bloqueado; tokens são temporários e vinculados à ação.</a:t>
            </a:r>
            <a:endParaRPr lang="en-US" sz="1000">
              <a:solidFill>
                <a:srgbClr val="9AAAC9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C78F0F21-32E4-4FBD-29A7-AC9DD148975F}"/>
              </a:ext>
            </a:extLst>
          </p:cNvPr>
          <p:cNvSpPr/>
          <p:nvPr/>
        </p:nvSpPr>
        <p:spPr>
          <a:xfrm>
            <a:off x="8153400" y="2006600"/>
            <a:ext cx="3429000" cy="1574800"/>
          </a:xfrm>
          <a:prstGeom prst="roundRect">
            <a:avLst/>
          </a:prstGeom>
          <a:solidFill>
            <a:srgbClr val="111A35"/>
          </a:solidFill>
          <a:ln w="12700" cap="flat" cmpd="sng" algn="ctr">
            <a:solidFill>
              <a:srgbClr val="42D4C7">
                <a:alpha val="28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3486BA1B-C1BF-EC1F-D878-99940C5A7D4A}"/>
              </a:ext>
            </a:extLst>
          </p:cNvPr>
          <p:cNvSpPr/>
          <p:nvPr/>
        </p:nvSpPr>
        <p:spPr>
          <a:xfrm>
            <a:off x="8382000" y="2209800"/>
            <a:ext cx="381000" cy="381000"/>
          </a:xfrm>
          <a:prstGeom prst="ellipse">
            <a:avLst/>
          </a:prstGeom>
          <a:solidFill>
            <a:srgbClr val="42D4C7">
              <a:alpha val="95000"/>
            </a:srgbClr>
          </a:solidFill>
          <a:ln w="0" cap="flat" cmpd="sng" algn="ctr">
            <a:solidFill>
              <a:srgbClr val="42D4C7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8ABEC61-B081-7783-9E1C-F30BC62E7854}"/>
              </a:ext>
            </a:extLst>
          </p:cNvPr>
          <p:cNvSpPr txBox="1"/>
          <p:nvPr/>
        </p:nvSpPr>
        <p:spPr>
          <a:xfrm>
            <a:off x="8382000" y="2209800"/>
            <a:ext cx="38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000" b="1">
                <a:solidFill>
                  <a:srgbClr val="050816"/>
                </a:solidFill>
                <a:latin typeface="Calibri" panose="020F0502020204030204" pitchFamily="34" charset="0"/>
              </a:rPr>
              <a:t>03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B115187-1AA5-A906-6DF0-3B964466042D}"/>
              </a:ext>
            </a:extLst>
          </p:cNvPr>
          <p:cNvSpPr txBox="1"/>
          <p:nvPr/>
        </p:nvSpPr>
        <p:spPr>
          <a:xfrm>
            <a:off x="8915400" y="2209800"/>
            <a:ext cx="2463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 b="1">
                <a:solidFill>
                  <a:srgbClr val="F7FAFF"/>
                </a:solidFill>
                <a:latin typeface="Calibri" panose="020F0502020204030204" pitchFamily="34" charset="0"/>
              </a:rPr>
              <a:t>Verdade operacional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36C6CD17-C61B-C09F-302C-0A23D417F643}"/>
              </a:ext>
            </a:extLst>
          </p:cNvPr>
          <p:cNvSpPr txBox="1"/>
          <p:nvPr/>
        </p:nvSpPr>
        <p:spPr>
          <a:xfrm>
            <a:off x="8382000" y="2717800"/>
            <a:ext cx="297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1000">
                <a:solidFill>
                  <a:srgbClr val="9AAAC9"/>
                </a:solidFill>
                <a:latin typeface="Calibri" panose="020F0502020204030204" pitchFamily="34" charset="0"/>
              </a:rPr>
              <a:t>Demo e Live são rotulados. Uma falha real nunca vira sucesso simulado.</a:t>
            </a:r>
            <a:endParaRPr lang="en-US" sz="1000">
              <a:solidFill>
                <a:srgbClr val="9AAAC9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8064ADD8-4551-04CB-5F7E-BB105183FA6A}"/>
              </a:ext>
            </a:extLst>
          </p:cNvPr>
          <p:cNvSpPr txBox="1"/>
          <p:nvPr/>
        </p:nvSpPr>
        <p:spPr>
          <a:xfrm>
            <a:off x="609600" y="4140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 b="1">
                <a:solidFill>
                  <a:srgbClr val="5BE7F5"/>
                </a:solidFill>
                <a:latin typeface="Calibri" panose="020F0502020204030204" pitchFamily="34" charset="0"/>
              </a:rPr>
              <a:t>TRÊS DEMONSTRAÇÕES PRONTAS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F1A013BC-9DBD-F9A1-FFE7-EB98FEA2CE8E}"/>
              </a:ext>
            </a:extLst>
          </p:cNvPr>
          <p:cNvSpPr/>
          <p:nvPr/>
        </p:nvSpPr>
        <p:spPr>
          <a:xfrm>
            <a:off x="609600" y="4546600"/>
            <a:ext cx="3581400" cy="838200"/>
          </a:xfrm>
          <a:prstGeom prst="roundRect">
            <a:avLst/>
          </a:prstGeom>
          <a:solidFill>
            <a:srgbClr val="151F3D"/>
          </a:solidFill>
          <a:ln w="12700" cap="flat" cmpd="sng" algn="ctr">
            <a:solidFill>
              <a:srgbClr val="273459">
                <a:alpha val="7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3CB01E6-F26E-CA61-EFC5-58238860BCA3}"/>
              </a:ext>
            </a:extLst>
          </p:cNvPr>
          <p:cNvSpPr txBox="1"/>
          <p:nvPr/>
        </p:nvSpPr>
        <p:spPr>
          <a:xfrm>
            <a:off x="787400" y="4686300"/>
            <a:ext cx="3225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 b="1">
                <a:solidFill>
                  <a:srgbClr val="F7FAFF"/>
                </a:solidFill>
                <a:latin typeface="Cambria" panose="02040503050406030204" pitchFamily="18" charset="0"/>
              </a:rPr>
              <a:t>“Organize meu amanhã”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F5E435C-4230-6B5C-06C0-B38C5A78D1C5}"/>
              </a:ext>
            </a:extLst>
          </p:cNvPr>
          <p:cNvSpPr txBox="1"/>
          <p:nvPr/>
        </p:nvSpPr>
        <p:spPr>
          <a:xfrm>
            <a:off x="787400" y="5041900"/>
            <a:ext cx="3225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>
                <a:solidFill>
                  <a:srgbClr val="93A4C7"/>
                </a:solidFill>
                <a:latin typeface="Calibri" panose="020F0502020204030204" pitchFamily="34" charset="0"/>
              </a:rPr>
              <a:t>foco + treino + aprovação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356BAE9F-7D9E-CBED-6015-852B681132BE}"/>
              </a:ext>
            </a:extLst>
          </p:cNvPr>
          <p:cNvSpPr/>
          <p:nvPr/>
        </p:nvSpPr>
        <p:spPr>
          <a:xfrm>
            <a:off x="4305300" y="4546600"/>
            <a:ext cx="3581400" cy="838200"/>
          </a:xfrm>
          <a:prstGeom prst="roundRect">
            <a:avLst/>
          </a:prstGeom>
          <a:solidFill>
            <a:srgbClr val="151F3D"/>
          </a:solidFill>
          <a:ln w="12700" cap="flat" cmpd="sng" algn="ctr">
            <a:solidFill>
              <a:srgbClr val="273459">
                <a:alpha val="7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4C0801A5-2FD4-E8C2-E7FC-EED19E5BD433}"/>
              </a:ext>
            </a:extLst>
          </p:cNvPr>
          <p:cNvSpPr txBox="1"/>
          <p:nvPr/>
        </p:nvSpPr>
        <p:spPr>
          <a:xfrm>
            <a:off x="4483100" y="4686300"/>
            <a:ext cx="3225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 b="1">
                <a:solidFill>
                  <a:srgbClr val="F7FAFF"/>
                </a:solidFill>
                <a:latin typeface="Cambria" panose="02040503050406030204" pitchFamily="18" charset="0"/>
              </a:rPr>
              <a:t>“Resuma meus e-mails”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5E1345F7-E1B0-15F8-C8CD-158C9A6E298A}"/>
              </a:ext>
            </a:extLst>
          </p:cNvPr>
          <p:cNvSpPr txBox="1"/>
          <p:nvPr/>
        </p:nvSpPr>
        <p:spPr>
          <a:xfrm>
            <a:off x="4483100" y="5041900"/>
            <a:ext cx="3225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>
                <a:solidFill>
                  <a:srgbClr val="93A4C7"/>
                </a:solidFill>
                <a:latin typeface="Calibri" panose="020F0502020204030204" pitchFamily="34" charset="0"/>
              </a:rPr>
              <a:t>triagem segura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08210B8D-E4A0-9374-E5B6-8AF7311F3680}"/>
              </a:ext>
            </a:extLst>
          </p:cNvPr>
          <p:cNvSpPr/>
          <p:nvPr/>
        </p:nvSpPr>
        <p:spPr>
          <a:xfrm>
            <a:off x="8001000" y="4546600"/>
            <a:ext cx="3581400" cy="838200"/>
          </a:xfrm>
          <a:prstGeom prst="roundRect">
            <a:avLst/>
          </a:prstGeom>
          <a:solidFill>
            <a:srgbClr val="151F3D"/>
          </a:solidFill>
          <a:ln w="12700" cap="flat" cmpd="sng" algn="ctr">
            <a:solidFill>
              <a:srgbClr val="273459">
                <a:alpha val="7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385C19B6-645F-1080-1F33-7E75ED80EC07}"/>
              </a:ext>
            </a:extLst>
          </p:cNvPr>
          <p:cNvSpPr txBox="1"/>
          <p:nvPr/>
        </p:nvSpPr>
        <p:spPr>
          <a:xfrm>
            <a:off x="8178800" y="4686300"/>
            <a:ext cx="3225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 b="1">
                <a:solidFill>
                  <a:srgbClr val="F7FAFF"/>
                </a:solidFill>
                <a:latin typeface="Cambria" panose="02040503050406030204" pitchFamily="18" charset="0"/>
              </a:rPr>
              <a:t>“Ache um treino livre”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50C923DD-4BD6-6E2A-54CD-593815021247}"/>
              </a:ext>
            </a:extLst>
          </p:cNvPr>
          <p:cNvSpPr txBox="1"/>
          <p:nvPr/>
        </p:nvSpPr>
        <p:spPr>
          <a:xfrm>
            <a:off x="8178800" y="5041900"/>
            <a:ext cx="3225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00">
                <a:solidFill>
                  <a:srgbClr val="93A4C7"/>
                </a:solidFill>
                <a:latin typeface="Calibri" panose="020F0502020204030204" pitchFamily="34" charset="0"/>
              </a:rPr>
              <a:t>agenda sem conflitos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A60830DB-5DB9-2102-BF80-993EE495D92F}"/>
              </a:ext>
            </a:extLst>
          </p:cNvPr>
          <p:cNvSpPr txBox="1"/>
          <p:nvPr/>
        </p:nvSpPr>
        <p:spPr>
          <a:xfrm>
            <a:off x="609600" y="57785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 b="1">
                <a:solidFill>
                  <a:srgbClr val="F7FAFF"/>
                </a:solidFill>
                <a:latin typeface="Cambria" panose="02040503050406030204" pitchFamily="18" charset="0"/>
              </a:rPr>
              <a:t>Menos aplicativos. Mais coordenação.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816AAD79-2CDA-F124-FE40-5D35D1480DA2}"/>
              </a:ext>
            </a:extLst>
          </p:cNvPr>
          <p:cNvSpPr txBox="1"/>
          <p:nvPr/>
        </p:nvSpPr>
        <p:spPr>
          <a:xfrm>
            <a:off x="8318500" y="5854700"/>
            <a:ext cx="3263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pt-BR" sz="1200" b="1">
                <a:solidFill>
                  <a:srgbClr val="5BE7F5"/>
                </a:solidFill>
                <a:latin typeface="Calibri" panose="020F0502020204030204" pitchFamily="34" charset="0"/>
              </a:rPr>
              <a:t>Sua vida. Suas regras. Seu clone.</a:t>
            </a:r>
            <a:endParaRPr lang="en-US" sz="1200" b="1">
              <a:solidFill>
                <a:srgbClr val="5BE7F5"/>
              </a:solidFill>
              <a:latin typeface="Calibri" panose="020F0502020204030204" pitchFamily="34" charset="0"/>
            </a:endParaRP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3FE08839-97D6-B567-33E4-CB2BE86FE046}"/>
              </a:ext>
            </a:extLst>
          </p:cNvPr>
          <p:cNvSpPr txBox="1"/>
          <p:nvPr/>
        </p:nvSpPr>
        <p:spPr>
          <a:xfrm>
            <a:off x="609600" y="64135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pt-BR" sz="900">
                <a:solidFill>
                  <a:srgbClr val="7384A9"/>
                </a:solidFill>
                <a:latin typeface="Calibri" panose="020F0502020204030204" pitchFamily="34" charset="0"/>
              </a:rPr>
              <a:t>Open source · Next.js · Composio · Parallel · arquitetura auditável</a:t>
            </a:r>
            <a:endParaRPr lang="en-US" sz="900">
              <a:solidFill>
                <a:srgbClr val="7384A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56806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860db96-b53f-4bd7-8137-e09357cab268}" enabled="1" method="Standard" siteId="{b78d03e6-f6a2-4cff-83be-847d1a6453f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773</Words>
  <Application>Microsoft Office PowerPoint</Application>
  <PresentationFormat>Personalizar</PresentationFormat>
  <Paragraphs>102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Cambria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 OLIVEIRA NASCIMENTO Pedro</dc:creator>
  <cp:lastModifiedBy>DE OLIVEIRA NASCIMENTO Pedro</cp:lastModifiedBy>
  <cp:revision>1</cp:revision>
  <dcterms:created xsi:type="dcterms:W3CDTF">2026-10-19T22:01:03Z</dcterms:created>
  <dcterms:modified xsi:type="dcterms:W3CDTF">2026-10-19T22:01:04Z</dcterms:modified>
</cp:coreProperties>
</file>