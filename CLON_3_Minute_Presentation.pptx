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62" y="9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B1C98F-8638-4074-9F1F-777E069DEBF6}" type="datetimeFigureOut">
              <a:rPr lang="en-US" smtClean="0"/>
              <a:t>10/19/2026</a:t>
            </a:fld>
            <a:endParaRPr lang="en-US"/>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0CA2F9-6FD0-4A17-823D-1024E7E2FF71}" type="slidenum">
              <a:rPr lang="en-US" smtClean="0"/>
              <a:t>‹nº›</a:t>
            </a:fld>
            <a:endParaRPr lang="en-US"/>
          </a:p>
        </p:txBody>
      </p:sp>
    </p:spTree>
    <p:extLst>
      <p:ext uri="{BB962C8B-B14F-4D97-AF65-F5344CB8AC3E}">
        <p14:creationId xmlns:p14="http://schemas.microsoft.com/office/powerpoint/2010/main" val="239511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a:t>Time: 15 seconds.`r`nThis is CLON: a personal artificial intelligence operating system. Instead of managing disconnected tools, you talk to a digital second self that understands your context and coordinates specialists - always under your rules.</a:t>
            </a:r>
          </a:p>
        </p:txBody>
      </p:sp>
      <p:sp>
        <p:nvSpPr>
          <p:cNvPr id="4" name="Espaço Reservado para Número de Slide 3"/>
          <p:cNvSpPr>
            <a:spLocks noGrp="1"/>
          </p:cNvSpPr>
          <p:nvPr>
            <p:ph type="sldNum" sz="quarter" idx="5"/>
          </p:nvPr>
        </p:nvSpPr>
        <p:spPr/>
        <p:txBody>
          <a:bodyPr/>
          <a:lstStyle/>
          <a:p>
            <a:fld id="{180CA2F9-6FD0-4A17-823D-1024E7E2FF71}" type="slidenum">
              <a:rPr lang="en-US" smtClean="0"/>
              <a:t>1</a:t>
            </a:fld>
            <a:endParaRPr lang="en-US"/>
          </a:p>
        </p:txBody>
      </p:sp>
    </p:spTree>
    <p:extLst>
      <p:ext uri="{BB962C8B-B14F-4D97-AF65-F5344CB8AC3E}">
        <p14:creationId xmlns:p14="http://schemas.microsoft.com/office/powerpoint/2010/main" val="1424093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a:t>Time: 25 seconds.`r`nToday, our routine is spread across email, calendar, tasks, events and fitness. The problem is not a lack of apps; it is a lack of coordination. Each tool sees only one piece of life, schedule conflicts appear, and trust disappears when automation acts without transparency.</a:t>
            </a:r>
          </a:p>
        </p:txBody>
      </p:sp>
      <p:sp>
        <p:nvSpPr>
          <p:cNvPr id="4" name="Espaço Reservado para Número de Slide 3"/>
          <p:cNvSpPr>
            <a:spLocks noGrp="1"/>
          </p:cNvSpPr>
          <p:nvPr>
            <p:ph type="sldNum" sz="quarter" idx="5"/>
          </p:nvPr>
        </p:nvSpPr>
        <p:spPr/>
        <p:txBody>
          <a:bodyPr/>
          <a:lstStyle/>
          <a:p>
            <a:fld id="{180CA2F9-6FD0-4A17-823D-1024E7E2FF71}" type="slidenum">
              <a:rPr lang="en-US" smtClean="0"/>
              <a:t>2</a:t>
            </a:fld>
            <a:endParaRPr lang="en-US"/>
          </a:p>
        </p:txBody>
      </p:sp>
    </p:spTree>
    <p:extLst>
      <p:ext uri="{BB962C8B-B14F-4D97-AF65-F5344CB8AC3E}">
        <p14:creationId xmlns:p14="http://schemas.microsoft.com/office/powerpoint/2010/main" val="1177242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a:t>Time: 35 seconds.`r`nCLON uses one master agent to coordinate four specialized clones. Communication handles email, Work prioritizes and protects focus time, Life finds relevant experiences, and Fitness schedules workouts safely. The calendar is a shared service, so every clone makes decisions using the same availability instead of creating another silo.</a:t>
            </a:r>
          </a:p>
        </p:txBody>
      </p:sp>
      <p:sp>
        <p:nvSpPr>
          <p:cNvPr id="4" name="Espaço Reservado para Número de Slide 3"/>
          <p:cNvSpPr>
            <a:spLocks noGrp="1"/>
          </p:cNvSpPr>
          <p:nvPr>
            <p:ph type="sldNum" sz="quarter" idx="5"/>
          </p:nvPr>
        </p:nvSpPr>
        <p:spPr/>
        <p:txBody>
          <a:bodyPr/>
          <a:lstStyle/>
          <a:p>
            <a:fld id="{180CA2F9-6FD0-4A17-823D-1024E7E2FF71}" type="slidenum">
              <a:rPr lang="en-US" smtClean="0"/>
              <a:t>3</a:t>
            </a:fld>
            <a:endParaRPr lang="en-US"/>
          </a:p>
        </p:txBody>
      </p:sp>
    </p:spTree>
    <p:extLst>
      <p:ext uri="{BB962C8B-B14F-4D97-AF65-F5344CB8AC3E}">
        <p14:creationId xmlns:p14="http://schemas.microsoft.com/office/powerpoint/2010/main" val="593857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a:t>Time: 40 seconds.`r`nThe flow starts with an intent expressed in natural language. The Master understands the request, delegates to specialists and checks shared services. It then assembles one proposal. Before any relevant change, the user sees exactly what will happen and approves it. Only then does CLON execute and record the action. The result is useful automation with real human control.</a:t>
            </a:r>
          </a:p>
        </p:txBody>
      </p:sp>
      <p:sp>
        <p:nvSpPr>
          <p:cNvPr id="4" name="Espaço Reservado para Número de Slide 3"/>
          <p:cNvSpPr>
            <a:spLocks noGrp="1"/>
          </p:cNvSpPr>
          <p:nvPr>
            <p:ph type="sldNum" sz="quarter" idx="5"/>
          </p:nvPr>
        </p:nvSpPr>
        <p:spPr/>
        <p:txBody>
          <a:bodyPr/>
          <a:lstStyle/>
          <a:p>
            <a:fld id="{180CA2F9-6FD0-4A17-823D-1024E7E2FF71}" type="slidenum">
              <a:rPr lang="en-US" smtClean="0"/>
              <a:t>4</a:t>
            </a:fld>
            <a:endParaRPr lang="en-US"/>
          </a:p>
        </p:txBody>
      </p:sp>
    </p:spTree>
    <p:extLst>
      <p:ext uri="{BB962C8B-B14F-4D97-AF65-F5344CB8AC3E}">
        <p14:creationId xmlns:p14="http://schemas.microsoft.com/office/powerpoint/2010/main" val="2132453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a:t>Time: 40 seconds.`r`nCLON was designed for trust: emails are never sent, relevant changes require approval, malicious content is treated as untrusted data, and Demo and Live are never confused. The MVP already demonstrates three complete stories without API keys: organizing the day, summarizing email safely and finding a conflict-free workout slot. The vision is simple: fewer isolated apps and more coordination, with the person always in control.</a:t>
            </a:r>
          </a:p>
        </p:txBody>
      </p:sp>
      <p:sp>
        <p:nvSpPr>
          <p:cNvPr id="4" name="Espaço Reservado para Número de Slide 3"/>
          <p:cNvSpPr>
            <a:spLocks noGrp="1"/>
          </p:cNvSpPr>
          <p:nvPr>
            <p:ph type="sldNum" sz="quarter" idx="5"/>
          </p:nvPr>
        </p:nvSpPr>
        <p:spPr/>
        <p:txBody>
          <a:bodyPr/>
          <a:lstStyle/>
          <a:p>
            <a:fld id="{180CA2F9-6FD0-4A17-823D-1024E7E2FF71}" type="slidenum">
              <a:rPr lang="en-US" smtClean="0"/>
              <a:t>5</a:t>
            </a:fld>
            <a:endParaRPr lang="en-US"/>
          </a:p>
        </p:txBody>
      </p:sp>
    </p:spTree>
    <p:extLst>
      <p:ext uri="{BB962C8B-B14F-4D97-AF65-F5344CB8AC3E}">
        <p14:creationId xmlns:p14="http://schemas.microsoft.com/office/powerpoint/2010/main" val="1873718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4102A0-0A8F-6926-5BC2-95D5B19BA4DF}"/>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a:p>
        </p:txBody>
      </p:sp>
      <p:sp>
        <p:nvSpPr>
          <p:cNvPr id="3" name="Subtítulo 2">
            <a:extLst>
              <a:ext uri="{FF2B5EF4-FFF2-40B4-BE49-F238E27FC236}">
                <a16:creationId xmlns:a16="http://schemas.microsoft.com/office/drawing/2014/main" id="{FFC6CF6B-6F7D-4C7E-CC24-C6DE72CA5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a:p>
        </p:txBody>
      </p:sp>
      <p:sp>
        <p:nvSpPr>
          <p:cNvPr id="4" name="Espaço Reservado para Data 3">
            <a:extLst>
              <a:ext uri="{FF2B5EF4-FFF2-40B4-BE49-F238E27FC236}">
                <a16:creationId xmlns:a16="http://schemas.microsoft.com/office/drawing/2014/main" id="{66159E82-0AE7-B052-8C4F-2B1FE819802D}"/>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5" name="Espaço Reservado para Rodapé 4">
            <a:extLst>
              <a:ext uri="{FF2B5EF4-FFF2-40B4-BE49-F238E27FC236}">
                <a16:creationId xmlns:a16="http://schemas.microsoft.com/office/drawing/2014/main" id="{9EE98859-ADC5-3BE0-BEB6-D645331191D9}"/>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0A2633C6-1A23-51DD-17DD-D2D96B324175}"/>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920597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49C72D-8996-2766-FAF2-B7EDD561F076}"/>
              </a:ext>
            </a:extLst>
          </p:cNvPr>
          <p:cNvSpPr>
            <a:spLocks noGrp="1"/>
          </p:cNvSpPr>
          <p:nvPr>
            <p:ph type="title"/>
          </p:nvPr>
        </p:nvSpPr>
        <p:spPr/>
        <p:txBody>
          <a:body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0461E049-63FB-404B-0E4B-339A2958A45D}"/>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8E7B927A-496B-E30E-D763-0489ADAB74E6}"/>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5" name="Espaço Reservado para Rodapé 4">
            <a:extLst>
              <a:ext uri="{FF2B5EF4-FFF2-40B4-BE49-F238E27FC236}">
                <a16:creationId xmlns:a16="http://schemas.microsoft.com/office/drawing/2014/main" id="{CD15675E-A9D5-11F1-3F27-3617E45FFD17}"/>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BDC6E19E-22A9-8C5C-334E-7C3139890AC6}"/>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2518038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E9E116-072B-C71E-52F5-37E5D9E9C475}"/>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ADA85B6B-DB71-082E-D8DF-FA9E7EB849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7176E018-8337-3F21-06F7-35CFD64362A8}"/>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5" name="Espaço Reservado para Rodapé 4">
            <a:extLst>
              <a:ext uri="{FF2B5EF4-FFF2-40B4-BE49-F238E27FC236}">
                <a16:creationId xmlns:a16="http://schemas.microsoft.com/office/drawing/2014/main" id="{D75DA60C-4A28-E71A-9CBA-CC68C308AD6C}"/>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E3D77302-4086-6E10-76D3-4B86D8600852}"/>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2629863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74160E-B8ED-E9C5-70F8-619ED6C7FCA4}"/>
              </a:ext>
            </a:extLst>
          </p:cNvPr>
          <p:cNvSpPr>
            <a:spLocks noGrp="1"/>
          </p:cNvSpPr>
          <p:nvPr>
            <p:ph type="title"/>
          </p:nvPr>
        </p:nvSpPr>
        <p:spPr/>
        <p:txBody>
          <a:body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641C3056-6ABA-BC33-A362-962C060057E8}"/>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Conteúdo 3">
            <a:extLst>
              <a:ext uri="{FF2B5EF4-FFF2-40B4-BE49-F238E27FC236}">
                <a16:creationId xmlns:a16="http://schemas.microsoft.com/office/drawing/2014/main" id="{83DE39F4-041F-5C5B-3536-29116FE4E8D0}"/>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Data 4">
            <a:extLst>
              <a:ext uri="{FF2B5EF4-FFF2-40B4-BE49-F238E27FC236}">
                <a16:creationId xmlns:a16="http://schemas.microsoft.com/office/drawing/2014/main" id="{70C5D4D5-2800-626E-1B8E-D932CE78E5F0}"/>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6" name="Espaço Reservado para Rodapé 5">
            <a:extLst>
              <a:ext uri="{FF2B5EF4-FFF2-40B4-BE49-F238E27FC236}">
                <a16:creationId xmlns:a16="http://schemas.microsoft.com/office/drawing/2014/main" id="{18B6602F-A175-A645-EB03-47BC1F039D7F}"/>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F1FDCAF6-8527-1B79-6902-5C438C1F1312}"/>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2060411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CB8A3B-B060-F191-12A1-C538DD7F8653}"/>
              </a:ext>
            </a:extLst>
          </p:cNvPr>
          <p:cNvSpPr>
            <a:spLocks noGrp="1"/>
          </p:cNvSpPr>
          <p:nvPr>
            <p:ph type="title"/>
          </p:nvPr>
        </p:nvSpPr>
        <p:spPr>
          <a:xfrm>
            <a:off x="839788" y="365125"/>
            <a:ext cx="10515600" cy="1325563"/>
          </a:xfrm>
        </p:spPr>
        <p:txBody>
          <a:body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F191A860-9921-7305-DEF6-074DA9AFE9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94B2A0D2-3613-1528-01CC-15E87E1E6429}"/>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Espaço Reservado para Texto 4">
            <a:extLst>
              <a:ext uri="{FF2B5EF4-FFF2-40B4-BE49-F238E27FC236}">
                <a16:creationId xmlns:a16="http://schemas.microsoft.com/office/drawing/2014/main" id="{E2901DE8-5943-2CDE-05F4-E731145E10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695B2716-BF7D-6763-24F8-97FD405C6137}"/>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Espaço Reservado para Data 6">
            <a:extLst>
              <a:ext uri="{FF2B5EF4-FFF2-40B4-BE49-F238E27FC236}">
                <a16:creationId xmlns:a16="http://schemas.microsoft.com/office/drawing/2014/main" id="{6992704D-B6EC-946D-2EE5-42CE7E4447C3}"/>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8" name="Espaço Reservado para Rodapé 7">
            <a:extLst>
              <a:ext uri="{FF2B5EF4-FFF2-40B4-BE49-F238E27FC236}">
                <a16:creationId xmlns:a16="http://schemas.microsoft.com/office/drawing/2014/main" id="{81607F6A-A94A-9D93-420D-232A8385BCC6}"/>
              </a:ext>
            </a:extLst>
          </p:cNvPr>
          <p:cNvSpPr>
            <a:spLocks noGrp="1"/>
          </p:cNvSpPr>
          <p:nvPr>
            <p:ph type="ftr" sz="quarter" idx="11"/>
          </p:nvPr>
        </p:nvSpPr>
        <p:spPr/>
        <p:txBody>
          <a:bodyPr/>
          <a:lstStyle/>
          <a:p>
            <a:endParaRPr lang="en-US"/>
          </a:p>
        </p:txBody>
      </p:sp>
      <p:sp>
        <p:nvSpPr>
          <p:cNvPr id="9" name="Espaço Reservado para Número de Slide 8">
            <a:extLst>
              <a:ext uri="{FF2B5EF4-FFF2-40B4-BE49-F238E27FC236}">
                <a16:creationId xmlns:a16="http://schemas.microsoft.com/office/drawing/2014/main" id="{3C6AB500-9667-8BAC-D7C0-86AF5F72CE73}"/>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1365075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D38520-2669-01D0-DEEF-3A2E4BBB034A}"/>
              </a:ext>
            </a:extLst>
          </p:cNvPr>
          <p:cNvSpPr>
            <a:spLocks noGrp="1"/>
          </p:cNvSpPr>
          <p:nvPr>
            <p:ph type="title"/>
          </p:nvPr>
        </p:nvSpPr>
        <p:spPr/>
        <p:txBody>
          <a:bodyPr/>
          <a:lstStyle/>
          <a:p>
            <a:r>
              <a:rPr lang="pt-BR"/>
              <a:t>Clique para editar o título Mestre</a:t>
            </a:r>
            <a:endParaRPr lang="en-US"/>
          </a:p>
        </p:txBody>
      </p:sp>
      <p:sp>
        <p:nvSpPr>
          <p:cNvPr id="3" name="Espaço Reservado para Data 2">
            <a:extLst>
              <a:ext uri="{FF2B5EF4-FFF2-40B4-BE49-F238E27FC236}">
                <a16:creationId xmlns:a16="http://schemas.microsoft.com/office/drawing/2014/main" id="{1563A7B0-AD09-BC4E-021B-46E90BD84D00}"/>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4" name="Espaço Reservado para Rodapé 3">
            <a:extLst>
              <a:ext uri="{FF2B5EF4-FFF2-40B4-BE49-F238E27FC236}">
                <a16:creationId xmlns:a16="http://schemas.microsoft.com/office/drawing/2014/main" id="{A5576869-726B-2CE4-4D15-8ACB955A3378}"/>
              </a:ext>
            </a:extLst>
          </p:cNvPr>
          <p:cNvSpPr>
            <a:spLocks noGrp="1"/>
          </p:cNvSpPr>
          <p:nvPr>
            <p:ph type="ftr" sz="quarter" idx="11"/>
          </p:nvPr>
        </p:nvSpPr>
        <p:spPr/>
        <p:txBody>
          <a:bodyPr/>
          <a:lstStyle/>
          <a:p>
            <a:endParaRPr lang="en-US"/>
          </a:p>
        </p:txBody>
      </p:sp>
      <p:sp>
        <p:nvSpPr>
          <p:cNvPr id="5" name="Espaço Reservado para Número de Slide 4">
            <a:extLst>
              <a:ext uri="{FF2B5EF4-FFF2-40B4-BE49-F238E27FC236}">
                <a16:creationId xmlns:a16="http://schemas.microsoft.com/office/drawing/2014/main" id="{754BF74A-9E2E-C6BD-0C32-92DDEDE73731}"/>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1490050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919025A-98F3-D6F2-2509-10034F639307}"/>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3" name="Espaço Reservado para Rodapé 2">
            <a:extLst>
              <a:ext uri="{FF2B5EF4-FFF2-40B4-BE49-F238E27FC236}">
                <a16:creationId xmlns:a16="http://schemas.microsoft.com/office/drawing/2014/main" id="{1D59577C-2D01-3722-CF4C-6BBE6F285571}"/>
              </a:ext>
            </a:extLst>
          </p:cNvPr>
          <p:cNvSpPr>
            <a:spLocks noGrp="1"/>
          </p:cNvSpPr>
          <p:nvPr>
            <p:ph type="ftr" sz="quarter" idx="11"/>
          </p:nvPr>
        </p:nvSpPr>
        <p:spPr/>
        <p:txBody>
          <a:bodyPr/>
          <a:lstStyle/>
          <a:p>
            <a:endParaRPr lang="en-US"/>
          </a:p>
        </p:txBody>
      </p:sp>
      <p:sp>
        <p:nvSpPr>
          <p:cNvPr id="4" name="Espaço Reservado para Número de Slide 3">
            <a:extLst>
              <a:ext uri="{FF2B5EF4-FFF2-40B4-BE49-F238E27FC236}">
                <a16:creationId xmlns:a16="http://schemas.microsoft.com/office/drawing/2014/main" id="{F1F5AB4A-E5D7-002B-3E9C-8FF39F950682}"/>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2427193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D30354-8932-5034-7C70-CA0E54620078}"/>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Espaço Reservado para Conteúdo 2">
            <a:extLst>
              <a:ext uri="{FF2B5EF4-FFF2-40B4-BE49-F238E27FC236}">
                <a16:creationId xmlns:a16="http://schemas.microsoft.com/office/drawing/2014/main" id="{E9C3FC1B-3338-EE0D-8D0F-02A6B0F8A6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Texto 3">
            <a:extLst>
              <a:ext uri="{FF2B5EF4-FFF2-40B4-BE49-F238E27FC236}">
                <a16:creationId xmlns:a16="http://schemas.microsoft.com/office/drawing/2014/main" id="{629BAAF6-F439-4A0A-B998-9C28A76E30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0420433-E3D5-F87C-2866-5914CC520F3A}"/>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6" name="Espaço Reservado para Rodapé 5">
            <a:extLst>
              <a:ext uri="{FF2B5EF4-FFF2-40B4-BE49-F238E27FC236}">
                <a16:creationId xmlns:a16="http://schemas.microsoft.com/office/drawing/2014/main" id="{2FE8AE27-33E4-654B-29AF-4F5805F98D56}"/>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6C370033-7C1B-6EA8-5BAF-B0B5A3F24623}"/>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4198760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BDD3D7-8710-0F9B-390A-3A72B6929759}"/>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a:p>
        </p:txBody>
      </p:sp>
      <p:sp>
        <p:nvSpPr>
          <p:cNvPr id="3" name="Espaço Reservado para Imagem 2">
            <a:extLst>
              <a:ext uri="{FF2B5EF4-FFF2-40B4-BE49-F238E27FC236}">
                <a16:creationId xmlns:a16="http://schemas.microsoft.com/office/drawing/2014/main" id="{6A011068-5859-2C3D-1756-FA8C4DCDBB0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ço Reservado para Texto 3">
            <a:extLst>
              <a:ext uri="{FF2B5EF4-FFF2-40B4-BE49-F238E27FC236}">
                <a16:creationId xmlns:a16="http://schemas.microsoft.com/office/drawing/2014/main" id="{741B65C5-44ED-0401-A117-42B0EDCD62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9DEEDFBE-5444-411B-7003-1B35D31065EB}"/>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6" name="Espaço Reservado para Rodapé 5">
            <a:extLst>
              <a:ext uri="{FF2B5EF4-FFF2-40B4-BE49-F238E27FC236}">
                <a16:creationId xmlns:a16="http://schemas.microsoft.com/office/drawing/2014/main" id="{583076C8-7B1B-E9BB-CA15-4C148003DA43}"/>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DA58FEB1-A420-0766-E900-7541C56CC16B}"/>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709843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1759B9-9358-D185-3D3C-64BAF17026EF}"/>
              </a:ext>
            </a:extLst>
          </p:cNvPr>
          <p:cNvSpPr>
            <a:spLocks noGrp="1"/>
          </p:cNvSpPr>
          <p:nvPr>
            <p:ph type="title"/>
          </p:nvPr>
        </p:nvSpPr>
        <p:spPr/>
        <p:txBody>
          <a:bodyPr/>
          <a:lstStyle/>
          <a:p>
            <a:r>
              <a:rPr lang="pt-BR"/>
              <a:t>Clique para editar o título Mestre</a:t>
            </a:r>
            <a:endParaRPr lang="en-US"/>
          </a:p>
        </p:txBody>
      </p:sp>
      <p:sp>
        <p:nvSpPr>
          <p:cNvPr id="3" name="Espaço Reservado para Texto Vertical 2">
            <a:extLst>
              <a:ext uri="{FF2B5EF4-FFF2-40B4-BE49-F238E27FC236}">
                <a16:creationId xmlns:a16="http://schemas.microsoft.com/office/drawing/2014/main" id="{C0507148-5396-4C13-81DE-9FBF03149F36}"/>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20D51053-CF48-D3B5-FC38-68B994CFF354}"/>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5" name="Espaço Reservado para Rodapé 4">
            <a:extLst>
              <a:ext uri="{FF2B5EF4-FFF2-40B4-BE49-F238E27FC236}">
                <a16:creationId xmlns:a16="http://schemas.microsoft.com/office/drawing/2014/main" id="{8F83DBE1-0D62-5CB9-F969-C261C8295A90}"/>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6C2A9DA1-E6CA-F03E-899D-0C0871F29365}"/>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3018268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C6CCFB8-1BB0-DC5E-88A1-C357014AB614}"/>
              </a:ext>
            </a:extLst>
          </p:cNvPr>
          <p:cNvSpPr>
            <a:spLocks noGrp="1"/>
          </p:cNvSpPr>
          <p:nvPr>
            <p:ph type="title" orient="vert"/>
          </p:nvPr>
        </p:nvSpPr>
        <p:spPr>
          <a:xfrm>
            <a:off x="8724900" y="365125"/>
            <a:ext cx="2628900" cy="5811838"/>
          </a:xfrm>
        </p:spPr>
        <p:txBody>
          <a:bodyPr vert="eaVert"/>
          <a:lstStyle/>
          <a:p>
            <a:r>
              <a:rPr lang="pt-BR"/>
              <a:t>Clique para editar o título Mestre</a:t>
            </a:r>
            <a:endParaRPr lang="en-US"/>
          </a:p>
        </p:txBody>
      </p:sp>
      <p:sp>
        <p:nvSpPr>
          <p:cNvPr id="3" name="Espaço Reservado para Texto Vertical 2">
            <a:extLst>
              <a:ext uri="{FF2B5EF4-FFF2-40B4-BE49-F238E27FC236}">
                <a16:creationId xmlns:a16="http://schemas.microsoft.com/office/drawing/2014/main" id="{CC2BCFE3-88BC-D354-AE38-E664835380CD}"/>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A975CC13-694A-48C3-0250-A5674EB5C522}"/>
              </a:ext>
            </a:extLst>
          </p:cNvPr>
          <p:cNvSpPr>
            <a:spLocks noGrp="1"/>
          </p:cNvSpPr>
          <p:nvPr>
            <p:ph type="dt" sz="half" idx="10"/>
          </p:nvPr>
        </p:nvSpPr>
        <p:spPr/>
        <p:txBody>
          <a:bodyPr/>
          <a:lstStyle/>
          <a:p>
            <a:fld id="{E77936E2-6E6B-4B40-BCF0-CE989FE9B8CC}" type="datetimeFigureOut">
              <a:rPr lang="en-US" smtClean="0"/>
              <a:t>10/19/2026</a:t>
            </a:fld>
            <a:endParaRPr lang="en-US"/>
          </a:p>
        </p:txBody>
      </p:sp>
      <p:sp>
        <p:nvSpPr>
          <p:cNvPr id="5" name="Espaço Reservado para Rodapé 4">
            <a:extLst>
              <a:ext uri="{FF2B5EF4-FFF2-40B4-BE49-F238E27FC236}">
                <a16:creationId xmlns:a16="http://schemas.microsoft.com/office/drawing/2014/main" id="{CADF740C-74EC-1144-58BC-9B6311EC7BBB}"/>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C320F540-D617-973D-090C-33EF6411F49F}"/>
              </a:ext>
            </a:extLst>
          </p:cNvPr>
          <p:cNvSpPr>
            <a:spLocks noGrp="1"/>
          </p:cNvSpPr>
          <p:nvPr>
            <p:ph type="sldNum" sz="quarter" idx="12"/>
          </p:nvPr>
        </p:nvSpPr>
        <p:spPr/>
        <p:txBody>
          <a:bodyPr/>
          <a:lstStyle/>
          <a:p>
            <a:fld id="{DF01DFA0-5EFE-4F94-BFB5-EE2B662F4748}" type="slidenum">
              <a:rPr lang="en-US" smtClean="0"/>
              <a:t>‹nº›</a:t>
            </a:fld>
            <a:endParaRPr lang="en-US"/>
          </a:p>
        </p:txBody>
      </p:sp>
    </p:spTree>
    <p:extLst>
      <p:ext uri="{BB962C8B-B14F-4D97-AF65-F5344CB8AC3E}">
        <p14:creationId xmlns:p14="http://schemas.microsoft.com/office/powerpoint/2010/main" val="25980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24A13DD-881D-6F3B-5E33-31CFFD6AF9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a:extLst>
              <a:ext uri="{FF2B5EF4-FFF2-40B4-BE49-F238E27FC236}">
                <a16:creationId xmlns:a16="http://schemas.microsoft.com/office/drawing/2014/main" id="{96AD382D-64CB-9E52-0B38-2402B4B538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Espaço Reservado para Data 3">
            <a:extLst>
              <a:ext uri="{FF2B5EF4-FFF2-40B4-BE49-F238E27FC236}">
                <a16:creationId xmlns:a16="http://schemas.microsoft.com/office/drawing/2014/main" id="{BE91789C-DC8A-F1B7-3641-5D40D0311F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7936E2-6E6B-4B40-BCF0-CE989FE9B8CC}" type="datetimeFigureOut">
              <a:rPr lang="en-US" smtClean="0"/>
              <a:t>10/19/2026</a:t>
            </a:fld>
            <a:endParaRPr lang="en-US"/>
          </a:p>
        </p:txBody>
      </p:sp>
      <p:sp>
        <p:nvSpPr>
          <p:cNvPr id="5" name="Espaço Reservado para Rodapé 4">
            <a:extLst>
              <a:ext uri="{FF2B5EF4-FFF2-40B4-BE49-F238E27FC236}">
                <a16:creationId xmlns:a16="http://schemas.microsoft.com/office/drawing/2014/main" id="{369983C3-35A8-3444-8EBE-F945343854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Espaço Reservado para Número de Slide 5">
            <a:extLst>
              <a:ext uri="{FF2B5EF4-FFF2-40B4-BE49-F238E27FC236}">
                <a16:creationId xmlns:a16="http://schemas.microsoft.com/office/drawing/2014/main" id="{BB57B450-1A5C-3E9E-5E31-A3CD7BEF5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01DFA0-5EFE-4F94-BFB5-EE2B662F4748}" type="slidenum">
              <a:rPr lang="en-US" smtClean="0"/>
              <a:t>‹nº›</a:t>
            </a:fld>
            <a:endParaRPr lang="en-US"/>
          </a:p>
        </p:txBody>
      </p:sp>
    </p:spTree>
    <p:extLst>
      <p:ext uri="{BB962C8B-B14F-4D97-AF65-F5344CB8AC3E}">
        <p14:creationId xmlns:p14="http://schemas.microsoft.com/office/powerpoint/2010/main" val="2008190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816"/>
        </a:solidFill>
        <a:effectLst/>
      </p:bgPr>
    </p:bg>
    <p:spTree>
      <p:nvGrpSpPr>
        <p:cNvPr id="1" name=""/>
        <p:cNvGrpSpPr/>
        <p:nvPr/>
      </p:nvGrpSpPr>
      <p:grpSpPr>
        <a:xfrm>
          <a:off x="0" y="0"/>
          <a:ext cx="0" cy="0"/>
          <a:chOff x="0" y="0"/>
          <a:chExt cx="0" cy="0"/>
        </a:xfrm>
      </p:grpSpPr>
      <p:sp>
        <p:nvSpPr>
          <p:cNvPr id="2" name="Elipse 1">
            <a:extLst>
              <a:ext uri="{FF2B5EF4-FFF2-40B4-BE49-F238E27FC236}">
                <a16:creationId xmlns:a16="http://schemas.microsoft.com/office/drawing/2014/main" id="{C1603850-5D72-32F3-2949-4646FA603D4F}"/>
              </a:ext>
            </a:extLst>
          </p:cNvPr>
          <p:cNvSpPr/>
          <p:nvPr/>
        </p:nvSpPr>
        <p:spPr>
          <a:xfrm>
            <a:off x="7747000" y="254000"/>
            <a:ext cx="3683000" cy="3683000"/>
          </a:xfrm>
          <a:prstGeom prst="ellipse">
            <a:avLst/>
          </a:prstGeom>
          <a:solidFill>
            <a:srgbClr val="9879FF">
              <a:alpha val="6000"/>
            </a:srgbClr>
          </a:solidFill>
          <a:ln w="0" cap="flat" cmpd="sng" algn="ctr">
            <a:solidFill>
              <a:srgbClr val="9879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lipse 2">
            <a:extLst>
              <a:ext uri="{FF2B5EF4-FFF2-40B4-BE49-F238E27FC236}">
                <a16:creationId xmlns:a16="http://schemas.microsoft.com/office/drawing/2014/main" id="{6A12FE48-7C19-0ABA-01E2-D4FC54FAC6A8}"/>
              </a:ext>
            </a:extLst>
          </p:cNvPr>
          <p:cNvSpPr/>
          <p:nvPr/>
        </p:nvSpPr>
        <p:spPr>
          <a:xfrm>
            <a:off x="8382000" y="889000"/>
            <a:ext cx="2921000" cy="2921000"/>
          </a:xfrm>
          <a:prstGeom prst="ellipse">
            <a:avLst/>
          </a:prstGeom>
          <a:solidFill>
            <a:srgbClr val="5BE7F5">
              <a:alpha val="6000"/>
            </a:srgbClr>
          </a:solidFill>
          <a:ln w="0" cap="flat" cmpd="sng" algn="ctr">
            <a:solidFill>
              <a:srgbClr val="5BE7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Elipse 3">
            <a:extLst>
              <a:ext uri="{FF2B5EF4-FFF2-40B4-BE49-F238E27FC236}">
                <a16:creationId xmlns:a16="http://schemas.microsoft.com/office/drawing/2014/main" id="{7ED5A634-506E-1E08-D572-191CC7DF3ACC}"/>
              </a:ext>
            </a:extLst>
          </p:cNvPr>
          <p:cNvSpPr/>
          <p:nvPr/>
        </p:nvSpPr>
        <p:spPr>
          <a:xfrm>
            <a:off x="8572500" y="1079500"/>
            <a:ext cx="2540000" cy="2540000"/>
          </a:xfrm>
          <a:prstGeom prst="ellipse">
            <a:avLst/>
          </a:prstGeom>
          <a:solidFill>
            <a:srgbClr val="050816">
              <a:alpha val="0"/>
            </a:srgbClr>
          </a:solidFill>
          <a:ln w="16510" cap="flat" cmpd="sng" algn="ctr">
            <a:solidFill>
              <a:srgbClr val="5BE7F5">
                <a:alpha val="75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Elipse 4">
            <a:extLst>
              <a:ext uri="{FF2B5EF4-FFF2-40B4-BE49-F238E27FC236}">
                <a16:creationId xmlns:a16="http://schemas.microsoft.com/office/drawing/2014/main" id="{11C03732-FDE5-D71B-F9AF-E1D9EBAE0CE7}"/>
              </a:ext>
            </a:extLst>
          </p:cNvPr>
          <p:cNvSpPr/>
          <p:nvPr/>
        </p:nvSpPr>
        <p:spPr>
          <a:xfrm>
            <a:off x="8953500" y="1460500"/>
            <a:ext cx="1778000" cy="1778000"/>
          </a:xfrm>
          <a:prstGeom prst="ellipse">
            <a:avLst/>
          </a:prstGeom>
          <a:solidFill>
            <a:srgbClr val="050816">
              <a:alpha val="0"/>
            </a:srgbClr>
          </a:solidFill>
          <a:ln w="12700" cap="flat" cmpd="sng" algn="ctr">
            <a:solidFill>
              <a:srgbClr val="9879FF">
                <a:alpha val="65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Conector reto 5">
            <a:extLst>
              <a:ext uri="{FF2B5EF4-FFF2-40B4-BE49-F238E27FC236}">
                <a16:creationId xmlns:a16="http://schemas.microsoft.com/office/drawing/2014/main" id="{191160C6-3239-0F25-F287-84EFA24FC2AC}"/>
              </a:ext>
            </a:extLst>
          </p:cNvPr>
          <p:cNvCxnSpPr/>
          <p:nvPr/>
        </p:nvCxnSpPr>
        <p:spPr>
          <a:xfrm>
            <a:off x="9817100" y="1651000"/>
            <a:ext cx="0" cy="1739900"/>
          </a:xfrm>
          <a:prstGeom prst="line">
            <a:avLst/>
          </a:prstGeom>
          <a:ln w="12700" cap="flat" cmpd="sng" algn="ctr">
            <a:solidFill>
              <a:srgbClr val="5BE7F5">
                <a:alpha val="6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 name="Conector reto 6">
            <a:extLst>
              <a:ext uri="{FF2B5EF4-FFF2-40B4-BE49-F238E27FC236}">
                <a16:creationId xmlns:a16="http://schemas.microsoft.com/office/drawing/2014/main" id="{A00FF9B8-2E4A-E843-0A33-10A19A4D0958}"/>
              </a:ext>
            </a:extLst>
          </p:cNvPr>
          <p:cNvCxnSpPr/>
          <p:nvPr/>
        </p:nvCxnSpPr>
        <p:spPr>
          <a:xfrm>
            <a:off x="8890000" y="2514600"/>
            <a:ext cx="1854200" cy="0"/>
          </a:xfrm>
          <a:prstGeom prst="line">
            <a:avLst/>
          </a:prstGeom>
          <a:ln w="12700" cap="flat" cmpd="sng" algn="ctr">
            <a:solidFill>
              <a:srgbClr val="9879FF">
                <a:alpha val="5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8" name="Elipse 7">
            <a:extLst>
              <a:ext uri="{FF2B5EF4-FFF2-40B4-BE49-F238E27FC236}">
                <a16:creationId xmlns:a16="http://schemas.microsoft.com/office/drawing/2014/main" id="{501F6442-26ED-23FA-A304-D941A2323F6B}"/>
              </a:ext>
            </a:extLst>
          </p:cNvPr>
          <p:cNvSpPr/>
          <p:nvPr/>
        </p:nvSpPr>
        <p:spPr>
          <a:xfrm>
            <a:off x="9550400" y="1968500"/>
            <a:ext cx="533400" cy="533400"/>
          </a:xfrm>
          <a:prstGeom prst="ellipse">
            <a:avLst/>
          </a:prstGeom>
          <a:solidFill>
            <a:srgbClr val="5BE7F5">
              <a:alpha val="12000"/>
            </a:srgbClr>
          </a:solidFill>
          <a:ln w="0" cap="flat" cmpd="sng" algn="ctr">
            <a:solidFill>
              <a:srgbClr val="5BE7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Elipse 8">
            <a:extLst>
              <a:ext uri="{FF2B5EF4-FFF2-40B4-BE49-F238E27FC236}">
                <a16:creationId xmlns:a16="http://schemas.microsoft.com/office/drawing/2014/main" id="{54DC50D0-091B-1C28-3452-B2C3D383D65B}"/>
              </a:ext>
            </a:extLst>
          </p:cNvPr>
          <p:cNvSpPr/>
          <p:nvPr/>
        </p:nvSpPr>
        <p:spPr>
          <a:xfrm>
            <a:off x="9613900" y="2032000"/>
            <a:ext cx="406400" cy="406400"/>
          </a:xfrm>
          <a:prstGeom prst="ellipse">
            <a:avLst/>
          </a:prstGeom>
          <a:solidFill>
            <a:srgbClr val="5BE7F5">
              <a:alpha val="92000"/>
            </a:srgbClr>
          </a:solidFill>
          <a:ln w="0" cap="flat" cmpd="sng" algn="ctr">
            <a:solidFill>
              <a:srgbClr val="5BE7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aixaDeTexto 9">
            <a:extLst>
              <a:ext uri="{FF2B5EF4-FFF2-40B4-BE49-F238E27FC236}">
                <a16:creationId xmlns:a16="http://schemas.microsoft.com/office/drawing/2014/main" id="{1FBF0129-00A0-DBE6-E461-B6568B7BB76B}"/>
              </a:ext>
            </a:extLst>
          </p:cNvPr>
          <p:cNvSpPr txBox="1"/>
          <p:nvPr/>
        </p:nvSpPr>
        <p:spPr>
          <a:xfrm>
            <a:off x="9613900" y="2019300"/>
            <a:ext cx="406400" cy="276999"/>
          </a:xfrm>
          <a:prstGeom prst="rect">
            <a:avLst/>
          </a:prstGeom>
          <a:noFill/>
        </p:spPr>
        <p:txBody>
          <a:bodyPr vert="horz" wrap="square" lIns="0" tIns="0" rIns="0" bIns="0" rtlCol="0" anchor="ctr">
            <a:noAutofit/>
          </a:bodyPr>
          <a:lstStyle/>
          <a:p>
            <a:pPr algn="ctr"/>
            <a:r>
              <a:rPr lang="en-US" b="1">
                <a:solidFill>
                  <a:srgbClr val="050816"/>
                </a:solidFill>
                <a:latin typeface="Cambria" panose="02040503050406030204" pitchFamily="18" charset="0"/>
              </a:rPr>
              <a:t>C</a:t>
            </a:r>
          </a:p>
        </p:txBody>
      </p:sp>
      <p:sp>
        <p:nvSpPr>
          <p:cNvPr id="11" name="CaixaDeTexto 10">
            <a:extLst>
              <a:ext uri="{FF2B5EF4-FFF2-40B4-BE49-F238E27FC236}">
                <a16:creationId xmlns:a16="http://schemas.microsoft.com/office/drawing/2014/main" id="{B619EAF8-81B2-1DA1-B428-725E51184D7C}"/>
              </a:ext>
            </a:extLst>
          </p:cNvPr>
          <p:cNvSpPr txBox="1"/>
          <p:nvPr/>
        </p:nvSpPr>
        <p:spPr>
          <a:xfrm>
            <a:off x="660400" y="1092200"/>
            <a:ext cx="6350000" cy="276999"/>
          </a:xfrm>
          <a:prstGeom prst="rect">
            <a:avLst/>
          </a:prstGeom>
          <a:noFill/>
        </p:spPr>
        <p:txBody>
          <a:bodyPr vert="horz" wrap="square" lIns="0" tIns="0" rIns="0" bIns="0" rtlCol="0" anchor="t">
            <a:noAutofit/>
          </a:bodyPr>
          <a:lstStyle/>
          <a:p>
            <a:r>
              <a:rPr lang="en-US" sz="4800" b="1">
                <a:solidFill>
                  <a:srgbClr val="F7FAFF"/>
                </a:solidFill>
                <a:latin typeface="Cambria" panose="02040503050406030204" pitchFamily="18" charset="0"/>
              </a:rPr>
              <a:t>CLON</a:t>
            </a:r>
          </a:p>
        </p:txBody>
      </p:sp>
      <p:sp>
        <p:nvSpPr>
          <p:cNvPr id="12" name="CaixaDeTexto 11">
            <a:extLst>
              <a:ext uri="{FF2B5EF4-FFF2-40B4-BE49-F238E27FC236}">
                <a16:creationId xmlns:a16="http://schemas.microsoft.com/office/drawing/2014/main" id="{C504A892-F517-85DF-F708-5F254825D78D}"/>
              </a:ext>
            </a:extLst>
          </p:cNvPr>
          <p:cNvSpPr txBox="1"/>
          <p:nvPr/>
        </p:nvSpPr>
        <p:spPr>
          <a:xfrm>
            <a:off x="698500" y="2120900"/>
            <a:ext cx="6350000" cy="276999"/>
          </a:xfrm>
          <a:prstGeom prst="rect">
            <a:avLst/>
          </a:prstGeom>
          <a:noFill/>
        </p:spPr>
        <p:txBody>
          <a:bodyPr vert="horz" wrap="square" lIns="0" tIns="0" rIns="0" bIns="0" rtlCol="0" anchor="t">
            <a:noAutofit/>
          </a:bodyPr>
          <a:lstStyle/>
          <a:p>
            <a:r>
              <a:rPr lang="en-US" sz="2300" b="1">
                <a:solidFill>
                  <a:srgbClr val="5BE7F5"/>
                </a:solidFill>
                <a:latin typeface="Calibri" panose="020F0502020204030204" pitchFamily="34" charset="0"/>
              </a:rPr>
              <a:t>Your life. Your rules. Your clone.</a:t>
            </a:r>
          </a:p>
        </p:txBody>
      </p:sp>
      <p:sp>
        <p:nvSpPr>
          <p:cNvPr id="13" name="CaixaDeTexto 12">
            <a:extLst>
              <a:ext uri="{FF2B5EF4-FFF2-40B4-BE49-F238E27FC236}">
                <a16:creationId xmlns:a16="http://schemas.microsoft.com/office/drawing/2014/main" id="{A57D2F67-3E56-993D-2267-2475403ACBB4}"/>
              </a:ext>
            </a:extLst>
          </p:cNvPr>
          <p:cNvSpPr txBox="1"/>
          <p:nvPr/>
        </p:nvSpPr>
        <p:spPr>
          <a:xfrm>
            <a:off x="698500" y="2895600"/>
            <a:ext cx="6350000" cy="276999"/>
          </a:xfrm>
          <a:prstGeom prst="rect">
            <a:avLst/>
          </a:prstGeom>
          <a:noFill/>
        </p:spPr>
        <p:txBody>
          <a:bodyPr vert="horz" wrap="square" lIns="0" tIns="0" rIns="0" bIns="0" rtlCol="0" anchor="t">
            <a:noAutofit/>
          </a:bodyPr>
          <a:lstStyle/>
          <a:p>
            <a:r>
              <a:rPr lang="en-US" sz="1900">
                <a:solidFill>
                  <a:srgbClr val="C7D3EC"/>
                </a:solidFill>
                <a:latin typeface="Calibri" panose="020F0502020204030204" pitchFamily="34" charset="0"/>
              </a:rPr>
              <a:t>A personal AI operating system that coordinates work, communication, life and well-being - without taking control away from you.</a:t>
            </a:r>
          </a:p>
        </p:txBody>
      </p:sp>
      <p:sp>
        <p:nvSpPr>
          <p:cNvPr id="14" name="Retângulo: Cantos Arredondados 13">
            <a:extLst>
              <a:ext uri="{FF2B5EF4-FFF2-40B4-BE49-F238E27FC236}">
                <a16:creationId xmlns:a16="http://schemas.microsoft.com/office/drawing/2014/main" id="{AD07C7C2-6880-8588-2929-360C9033559A}"/>
              </a:ext>
            </a:extLst>
          </p:cNvPr>
          <p:cNvSpPr/>
          <p:nvPr/>
        </p:nvSpPr>
        <p:spPr>
          <a:xfrm>
            <a:off x="698500" y="4572000"/>
            <a:ext cx="2286000" cy="431800"/>
          </a:xfrm>
          <a:prstGeom prst="roundRect">
            <a:avLst/>
          </a:prstGeom>
          <a:solidFill>
            <a:srgbClr val="182242"/>
          </a:solidFill>
          <a:ln w="12700" cap="flat" cmpd="sng" algn="ctr">
            <a:solidFill>
              <a:srgbClr val="5BE7F5">
                <a:alpha val="35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ixaDeTexto 14">
            <a:extLst>
              <a:ext uri="{FF2B5EF4-FFF2-40B4-BE49-F238E27FC236}">
                <a16:creationId xmlns:a16="http://schemas.microsoft.com/office/drawing/2014/main" id="{07CCAAB9-B97B-775F-EF0A-9ABA575ED51A}"/>
              </a:ext>
            </a:extLst>
          </p:cNvPr>
          <p:cNvSpPr txBox="1"/>
          <p:nvPr/>
        </p:nvSpPr>
        <p:spPr>
          <a:xfrm>
            <a:off x="863600" y="4673600"/>
            <a:ext cx="1981200" cy="276999"/>
          </a:xfrm>
          <a:prstGeom prst="rect">
            <a:avLst/>
          </a:prstGeom>
          <a:noFill/>
        </p:spPr>
        <p:txBody>
          <a:bodyPr vert="horz" wrap="square" lIns="0" tIns="0" rIns="0" bIns="0" rtlCol="0" anchor="ctr">
            <a:noAutofit/>
          </a:bodyPr>
          <a:lstStyle/>
          <a:p>
            <a:pPr algn="ctr"/>
            <a:r>
              <a:rPr lang="en-US" sz="1000" b="1">
                <a:solidFill>
                  <a:srgbClr val="5BE7F5"/>
                </a:solidFill>
                <a:latin typeface="Calibri" panose="020F0502020204030204" pitchFamily="34" charset="0"/>
              </a:rPr>
              <a:t>3-MINUTE PRESENTATION</a:t>
            </a:r>
          </a:p>
        </p:txBody>
      </p:sp>
      <p:sp>
        <p:nvSpPr>
          <p:cNvPr id="16" name="CaixaDeTexto 15">
            <a:extLst>
              <a:ext uri="{FF2B5EF4-FFF2-40B4-BE49-F238E27FC236}">
                <a16:creationId xmlns:a16="http://schemas.microsoft.com/office/drawing/2014/main" id="{BF686DBB-6466-7161-C94B-3449BFD39B5A}"/>
              </a:ext>
            </a:extLst>
          </p:cNvPr>
          <p:cNvSpPr txBox="1"/>
          <p:nvPr/>
        </p:nvSpPr>
        <p:spPr>
          <a:xfrm>
            <a:off x="698500" y="5346700"/>
            <a:ext cx="3810000" cy="276999"/>
          </a:xfrm>
          <a:prstGeom prst="rect">
            <a:avLst/>
          </a:prstGeom>
          <a:noFill/>
        </p:spPr>
        <p:txBody>
          <a:bodyPr vert="horz" wrap="square" lIns="0" tIns="0" rIns="0" bIns="0" rtlCol="0" anchor="t">
            <a:noAutofit/>
          </a:bodyPr>
          <a:lstStyle/>
          <a:p>
            <a:r>
              <a:rPr lang="en-US" sz="1100">
                <a:solidFill>
                  <a:srgbClr val="7688AD"/>
                </a:solidFill>
                <a:latin typeface="Calibri" panose="020F0502020204030204" pitchFamily="34" charset="0"/>
              </a:rPr>
              <a:t>Open source · AI hackathon</a:t>
            </a:r>
          </a:p>
        </p:txBody>
      </p:sp>
      <p:sp>
        <p:nvSpPr>
          <p:cNvPr id="17" name="CaixaDeTexto 16">
            <a:extLst>
              <a:ext uri="{FF2B5EF4-FFF2-40B4-BE49-F238E27FC236}">
                <a16:creationId xmlns:a16="http://schemas.microsoft.com/office/drawing/2014/main" id="{A801157C-9D29-D478-8EE3-795D410CA7B4}"/>
              </a:ext>
            </a:extLst>
          </p:cNvPr>
          <p:cNvSpPr txBox="1"/>
          <p:nvPr/>
        </p:nvSpPr>
        <p:spPr>
          <a:xfrm>
            <a:off x="11049000" y="482600"/>
            <a:ext cx="533400" cy="276999"/>
          </a:xfrm>
          <a:prstGeom prst="rect">
            <a:avLst/>
          </a:prstGeom>
          <a:noFill/>
        </p:spPr>
        <p:txBody>
          <a:bodyPr vert="horz" wrap="square" lIns="0" tIns="0" rIns="0" bIns="0" rtlCol="0" anchor="ctr">
            <a:noAutofit/>
          </a:bodyPr>
          <a:lstStyle/>
          <a:p>
            <a:pPr algn="ctr"/>
            <a:r>
              <a:rPr lang="en-US" sz="1200" b="1">
                <a:solidFill>
                  <a:srgbClr val="7384A9"/>
                </a:solidFill>
                <a:latin typeface="Calibri" panose="020F0502020204030204" pitchFamily="34" charset="0"/>
              </a:rPr>
              <a:t>01</a:t>
            </a:r>
          </a:p>
        </p:txBody>
      </p:sp>
    </p:spTree>
    <p:extLst>
      <p:ext uri="{BB962C8B-B14F-4D97-AF65-F5344CB8AC3E}">
        <p14:creationId xmlns:p14="http://schemas.microsoft.com/office/powerpoint/2010/main" val="1321800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BDF0206-1256-2D2F-3081-A4AF50B62F88}"/>
              </a:ext>
            </a:extLst>
          </p:cNvPr>
          <p:cNvSpPr txBox="1"/>
          <p:nvPr/>
        </p:nvSpPr>
        <p:spPr>
          <a:xfrm>
            <a:off x="609600" y="355600"/>
            <a:ext cx="5334000" cy="276999"/>
          </a:xfrm>
          <a:prstGeom prst="rect">
            <a:avLst/>
          </a:prstGeom>
          <a:noFill/>
        </p:spPr>
        <p:txBody>
          <a:bodyPr vert="horz" wrap="square" lIns="0" tIns="0" rIns="0" bIns="0" rtlCol="0" anchor="t">
            <a:noAutofit/>
          </a:bodyPr>
          <a:lstStyle/>
          <a:p>
            <a:r>
              <a:rPr lang="en-US" sz="1100" b="1">
                <a:solidFill>
                  <a:srgbClr val="5BE7F5"/>
                </a:solidFill>
                <a:latin typeface="Calibri" panose="020F0502020204030204" pitchFamily="34" charset="0"/>
              </a:rPr>
              <a:t>THE PROBLEM</a:t>
            </a:r>
          </a:p>
        </p:txBody>
      </p:sp>
      <p:sp>
        <p:nvSpPr>
          <p:cNvPr id="3" name="CaixaDeTexto 2">
            <a:extLst>
              <a:ext uri="{FF2B5EF4-FFF2-40B4-BE49-F238E27FC236}">
                <a16:creationId xmlns:a16="http://schemas.microsoft.com/office/drawing/2014/main" id="{8A6BF39D-CDBF-DDC6-3674-0F718F3B0C30}"/>
              </a:ext>
            </a:extLst>
          </p:cNvPr>
          <p:cNvSpPr txBox="1"/>
          <p:nvPr/>
        </p:nvSpPr>
        <p:spPr>
          <a:xfrm>
            <a:off x="609600" y="698500"/>
            <a:ext cx="9652000" cy="276999"/>
          </a:xfrm>
          <a:prstGeom prst="rect">
            <a:avLst/>
          </a:prstGeom>
          <a:noFill/>
        </p:spPr>
        <p:txBody>
          <a:bodyPr vert="horz" wrap="square" lIns="0" tIns="0" rIns="0" bIns="0" rtlCol="0" anchor="t">
            <a:noAutofit/>
          </a:bodyPr>
          <a:lstStyle/>
          <a:p>
            <a:r>
              <a:rPr lang="en-US" sz="3000" b="1">
                <a:solidFill>
                  <a:srgbClr val="101426"/>
                </a:solidFill>
                <a:latin typeface="Cambria" panose="02040503050406030204" pitchFamily="18" charset="0"/>
              </a:rPr>
              <a:t>Our digital life is fragmented</a:t>
            </a:r>
          </a:p>
        </p:txBody>
      </p:sp>
      <p:sp>
        <p:nvSpPr>
          <p:cNvPr id="4" name="CaixaDeTexto 3">
            <a:extLst>
              <a:ext uri="{FF2B5EF4-FFF2-40B4-BE49-F238E27FC236}">
                <a16:creationId xmlns:a16="http://schemas.microsoft.com/office/drawing/2014/main" id="{C9308DFC-781E-3D6E-7998-18074174E5DC}"/>
              </a:ext>
            </a:extLst>
          </p:cNvPr>
          <p:cNvSpPr txBox="1"/>
          <p:nvPr/>
        </p:nvSpPr>
        <p:spPr>
          <a:xfrm>
            <a:off x="11049000" y="482600"/>
            <a:ext cx="533400" cy="276999"/>
          </a:xfrm>
          <a:prstGeom prst="rect">
            <a:avLst/>
          </a:prstGeom>
          <a:noFill/>
        </p:spPr>
        <p:txBody>
          <a:bodyPr vert="horz" wrap="square" lIns="0" tIns="0" rIns="0" bIns="0" rtlCol="0" anchor="ctr">
            <a:noAutofit/>
          </a:bodyPr>
          <a:lstStyle/>
          <a:p>
            <a:pPr algn="ctr"/>
            <a:r>
              <a:rPr lang="en-US" sz="1200" b="1">
                <a:solidFill>
                  <a:srgbClr val="5F6B85"/>
                </a:solidFill>
                <a:latin typeface="Calibri" panose="020F0502020204030204" pitchFamily="34" charset="0"/>
              </a:rPr>
              <a:t>02</a:t>
            </a:r>
          </a:p>
        </p:txBody>
      </p:sp>
      <p:sp>
        <p:nvSpPr>
          <p:cNvPr id="5" name="CaixaDeTexto 4">
            <a:extLst>
              <a:ext uri="{FF2B5EF4-FFF2-40B4-BE49-F238E27FC236}">
                <a16:creationId xmlns:a16="http://schemas.microsoft.com/office/drawing/2014/main" id="{12307674-8A0D-48AB-BF61-97A5676DA29F}"/>
              </a:ext>
            </a:extLst>
          </p:cNvPr>
          <p:cNvSpPr txBox="1"/>
          <p:nvPr/>
        </p:nvSpPr>
        <p:spPr>
          <a:xfrm>
            <a:off x="609600" y="1498600"/>
            <a:ext cx="7112000" cy="276999"/>
          </a:xfrm>
          <a:prstGeom prst="rect">
            <a:avLst/>
          </a:prstGeom>
          <a:noFill/>
        </p:spPr>
        <p:txBody>
          <a:bodyPr vert="horz" wrap="square" lIns="0" tIns="0" rIns="0" bIns="0" rtlCol="0" anchor="t">
            <a:noAutofit/>
          </a:bodyPr>
          <a:lstStyle/>
          <a:p>
            <a:r>
              <a:rPr lang="en-US" sz="1700">
                <a:solidFill>
                  <a:srgbClr val="46516B"/>
                </a:solidFill>
                <a:latin typeface="Calibri" panose="020F0502020204030204" pitchFamily="34" charset="0"/>
              </a:rPr>
              <a:t>Calendar, email, tasks, events and fitness compete for the same schedule - but do not share context.</a:t>
            </a:r>
          </a:p>
        </p:txBody>
      </p:sp>
      <p:sp>
        <p:nvSpPr>
          <p:cNvPr id="6" name="Elipse 5">
            <a:extLst>
              <a:ext uri="{FF2B5EF4-FFF2-40B4-BE49-F238E27FC236}">
                <a16:creationId xmlns:a16="http://schemas.microsoft.com/office/drawing/2014/main" id="{5AC681CD-9D13-0768-4430-4A1840937798}"/>
              </a:ext>
            </a:extLst>
          </p:cNvPr>
          <p:cNvSpPr/>
          <p:nvPr/>
        </p:nvSpPr>
        <p:spPr>
          <a:xfrm>
            <a:off x="7937500" y="2882900"/>
            <a:ext cx="1651000" cy="1651000"/>
          </a:xfrm>
          <a:prstGeom prst="ellipse">
            <a:avLst/>
          </a:prstGeom>
          <a:solidFill>
            <a:srgbClr val="101A34"/>
          </a:solidFill>
          <a:ln w="0" cap="flat" cmpd="sng" algn="ctr">
            <a:solidFill>
              <a:srgbClr val="101A3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ixaDeTexto 6">
            <a:extLst>
              <a:ext uri="{FF2B5EF4-FFF2-40B4-BE49-F238E27FC236}">
                <a16:creationId xmlns:a16="http://schemas.microsoft.com/office/drawing/2014/main" id="{4CF1765B-DF5E-0A35-CB0D-5A2915C3352A}"/>
              </a:ext>
            </a:extLst>
          </p:cNvPr>
          <p:cNvSpPr txBox="1"/>
          <p:nvPr/>
        </p:nvSpPr>
        <p:spPr>
          <a:xfrm>
            <a:off x="7937500" y="3340100"/>
            <a:ext cx="1651000" cy="276999"/>
          </a:xfrm>
          <a:prstGeom prst="rect">
            <a:avLst/>
          </a:prstGeom>
          <a:noFill/>
        </p:spPr>
        <p:txBody>
          <a:bodyPr vert="horz" wrap="square" lIns="0" tIns="0" rIns="0" bIns="0" rtlCol="0" anchor="ctr">
            <a:noAutofit/>
          </a:bodyPr>
          <a:lstStyle/>
          <a:p>
            <a:pPr algn="ctr"/>
            <a:r>
              <a:rPr lang="en-US" sz="2000" b="1">
                <a:solidFill>
                  <a:srgbClr val="F7FAFF"/>
                </a:solidFill>
                <a:latin typeface="Calibri" panose="020F0502020204030204" pitchFamily="34" charset="0"/>
              </a:rPr>
              <a:t>YOU</a:t>
            </a:r>
          </a:p>
        </p:txBody>
      </p:sp>
      <p:cxnSp>
        <p:nvCxnSpPr>
          <p:cNvPr id="8" name="Conector reto 7">
            <a:extLst>
              <a:ext uri="{FF2B5EF4-FFF2-40B4-BE49-F238E27FC236}">
                <a16:creationId xmlns:a16="http://schemas.microsoft.com/office/drawing/2014/main" id="{32D89EB2-CA98-3519-CCF0-5A9AF75F2EEB}"/>
              </a:ext>
            </a:extLst>
          </p:cNvPr>
          <p:cNvCxnSpPr/>
          <p:nvPr/>
        </p:nvCxnSpPr>
        <p:spPr>
          <a:xfrm flipH="1" flipV="1">
            <a:off x="6985000" y="2565400"/>
            <a:ext cx="1778000" cy="1143000"/>
          </a:xfrm>
          <a:prstGeom prst="line">
            <a:avLst/>
          </a:prstGeom>
          <a:ln w="15240" cap="flat" cmpd="sng" algn="ctr">
            <a:solidFill>
              <a:srgbClr val="A8B3C9">
                <a:alpha val="8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 name="Retângulo: Cantos Arredondados 8">
            <a:extLst>
              <a:ext uri="{FF2B5EF4-FFF2-40B4-BE49-F238E27FC236}">
                <a16:creationId xmlns:a16="http://schemas.microsoft.com/office/drawing/2014/main" id="{6C9617FF-FADC-9B75-F023-D081F210F133}"/>
              </a:ext>
            </a:extLst>
          </p:cNvPr>
          <p:cNvSpPr/>
          <p:nvPr/>
        </p:nvSpPr>
        <p:spPr>
          <a:xfrm>
            <a:off x="6286500" y="2133600"/>
            <a:ext cx="1397000" cy="863600"/>
          </a:xfrm>
          <a:prstGeom prst="roundRect">
            <a:avLst/>
          </a:prstGeom>
          <a:solidFill>
            <a:srgbClr val="FFFFFF"/>
          </a:solidFill>
          <a:ln w="12700" cap="flat" cmpd="sng" algn="ctr">
            <a:solidFill>
              <a:srgbClr val="5AA7FF">
                <a:alpha val="65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Elipse 9">
            <a:extLst>
              <a:ext uri="{FF2B5EF4-FFF2-40B4-BE49-F238E27FC236}">
                <a16:creationId xmlns:a16="http://schemas.microsoft.com/office/drawing/2014/main" id="{EF0F11F6-31D1-4146-ED6D-DA67F849F4BF}"/>
              </a:ext>
            </a:extLst>
          </p:cNvPr>
          <p:cNvSpPr/>
          <p:nvPr/>
        </p:nvSpPr>
        <p:spPr>
          <a:xfrm>
            <a:off x="6375400" y="2286000"/>
            <a:ext cx="254000" cy="254000"/>
          </a:xfrm>
          <a:prstGeom prst="ellipse">
            <a:avLst/>
          </a:prstGeom>
          <a:solidFill>
            <a:srgbClr val="5AA7FF">
              <a:alpha val="12000"/>
            </a:srgbClr>
          </a:solidFill>
          <a:ln w="0" cap="flat" cmpd="sng" algn="ctr">
            <a:solidFill>
              <a:srgbClr val="5AA7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Elipse 10">
            <a:extLst>
              <a:ext uri="{FF2B5EF4-FFF2-40B4-BE49-F238E27FC236}">
                <a16:creationId xmlns:a16="http://schemas.microsoft.com/office/drawing/2014/main" id="{20C477D9-125E-8AFB-3C1B-51D2981A03AD}"/>
              </a:ext>
            </a:extLst>
          </p:cNvPr>
          <p:cNvSpPr/>
          <p:nvPr/>
        </p:nvSpPr>
        <p:spPr>
          <a:xfrm>
            <a:off x="6438900" y="2349500"/>
            <a:ext cx="127000" cy="127000"/>
          </a:xfrm>
          <a:prstGeom prst="ellipse">
            <a:avLst/>
          </a:prstGeom>
          <a:solidFill>
            <a:srgbClr val="5AA7FF">
              <a:alpha val="92000"/>
            </a:srgbClr>
          </a:solidFill>
          <a:ln w="0" cap="flat" cmpd="sng" algn="ctr">
            <a:solidFill>
              <a:srgbClr val="5AA7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aixaDeTexto 11">
            <a:extLst>
              <a:ext uri="{FF2B5EF4-FFF2-40B4-BE49-F238E27FC236}">
                <a16:creationId xmlns:a16="http://schemas.microsoft.com/office/drawing/2014/main" id="{7B5C201A-A2A6-1927-B245-65DC601B00FF}"/>
              </a:ext>
            </a:extLst>
          </p:cNvPr>
          <p:cNvSpPr txBox="1"/>
          <p:nvPr/>
        </p:nvSpPr>
        <p:spPr>
          <a:xfrm>
            <a:off x="6642100" y="2362200"/>
            <a:ext cx="914400" cy="276999"/>
          </a:xfrm>
          <a:prstGeom prst="rect">
            <a:avLst/>
          </a:prstGeom>
          <a:noFill/>
        </p:spPr>
        <p:txBody>
          <a:bodyPr vert="horz" wrap="square" lIns="0" tIns="0" rIns="0" bIns="0" rtlCol="0" anchor="ctr">
            <a:noAutofit/>
          </a:bodyPr>
          <a:lstStyle/>
          <a:p>
            <a:r>
              <a:rPr lang="en-US" sz="1200" b="1">
                <a:solidFill>
                  <a:srgbClr val="1A2238"/>
                </a:solidFill>
                <a:latin typeface="Calibri" panose="020F0502020204030204" pitchFamily="34" charset="0"/>
              </a:rPr>
              <a:t>EMAIL</a:t>
            </a:r>
          </a:p>
        </p:txBody>
      </p:sp>
      <p:cxnSp>
        <p:nvCxnSpPr>
          <p:cNvPr id="13" name="Conector reto 12">
            <a:extLst>
              <a:ext uri="{FF2B5EF4-FFF2-40B4-BE49-F238E27FC236}">
                <a16:creationId xmlns:a16="http://schemas.microsoft.com/office/drawing/2014/main" id="{063DD298-C2EA-219C-6DCF-9502EC7AA0A5}"/>
              </a:ext>
            </a:extLst>
          </p:cNvPr>
          <p:cNvCxnSpPr/>
          <p:nvPr/>
        </p:nvCxnSpPr>
        <p:spPr>
          <a:xfrm flipV="1">
            <a:off x="8763000" y="2565400"/>
            <a:ext cx="1587500" cy="1143000"/>
          </a:xfrm>
          <a:prstGeom prst="line">
            <a:avLst/>
          </a:prstGeom>
          <a:ln w="15240" cap="flat" cmpd="sng" algn="ctr">
            <a:solidFill>
              <a:srgbClr val="A8B3C9">
                <a:alpha val="8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4" name="Retângulo: Cantos Arredondados 13">
            <a:extLst>
              <a:ext uri="{FF2B5EF4-FFF2-40B4-BE49-F238E27FC236}">
                <a16:creationId xmlns:a16="http://schemas.microsoft.com/office/drawing/2014/main" id="{26A7D26E-75D8-24FB-AA4D-31B8FB766F17}"/>
              </a:ext>
            </a:extLst>
          </p:cNvPr>
          <p:cNvSpPr/>
          <p:nvPr/>
        </p:nvSpPr>
        <p:spPr>
          <a:xfrm>
            <a:off x="9652000" y="2133600"/>
            <a:ext cx="1397000" cy="863600"/>
          </a:xfrm>
          <a:prstGeom prst="roundRect">
            <a:avLst/>
          </a:prstGeom>
          <a:solidFill>
            <a:srgbClr val="FFFFFF"/>
          </a:solidFill>
          <a:ln w="12700" cap="flat" cmpd="sng" algn="ctr">
            <a:solidFill>
              <a:srgbClr val="9879FF">
                <a:alpha val="65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Elipse 14">
            <a:extLst>
              <a:ext uri="{FF2B5EF4-FFF2-40B4-BE49-F238E27FC236}">
                <a16:creationId xmlns:a16="http://schemas.microsoft.com/office/drawing/2014/main" id="{8145293F-0299-4D85-7621-27A36136EFC0}"/>
              </a:ext>
            </a:extLst>
          </p:cNvPr>
          <p:cNvSpPr/>
          <p:nvPr/>
        </p:nvSpPr>
        <p:spPr>
          <a:xfrm>
            <a:off x="9740900" y="2286000"/>
            <a:ext cx="254000" cy="254000"/>
          </a:xfrm>
          <a:prstGeom prst="ellipse">
            <a:avLst/>
          </a:prstGeom>
          <a:solidFill>
            <a:srgbClr val="9879FF">
              <a:alpha val="12000"/>
            </a:srgbClr>
          </a:solidFill>
          <a:ln w="0" cap="flat" cmpd="sng" algn="ctr">
            <a:solidFill>
              <a:srgbClr val="9879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Elipse 15">
            <a:extLst>
              <a:ext uri="{FF2B5EF4-FFF2-40B4-BE49-F238E27FC236}">
                <a16:creationId xmlns:a16="http://schemas.microsoft.com/office/drawing/2014/main" id="{8229FCEA-8407-75AC-28F3-2B2E5CB3FB43}"/>
              </a:ext>
            </a:extLst>
          </p:cNvPr>
          <p:cNvSpPr/>
          <p:nvPr/>
        </p:nvSpPr>
        <p:spPr>
          <a:xfrm>
            <a:off x="9804400" y="2349500"/>
            <a:ext cx="127000" cy="127000"/>
          </a:xfrm>
          <a:prstGeom prst="ellipse">
            <a:avLst/>
          </a:prstGeom>
          <a:solidFill>
            <a:srgbClr val="9879FF">
              <a:alpha val="92000"/>
            </a:srgbClr>
          </a:solidFill>
          <a:ln w="0" cap="flat" cmpd="sng" algn="ctr">
            <a:solidFill>
              <a:srgbClr val="9879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aixaDeTexto 16">
            <a:extLst>
              <a:ext uri="{FF2B5EF4-FFF2-40B4-BE49-F238E27FC236}">
                <a16:creationId xmlns:a16="http://schemas.microsoft.com/office/drawing/2014/main" id="{B657D8F9-5B27-BB11-2B46-7EA48536F8C2}"/>
              </a:ext>
            </a:extLst>
          </p:cNvPr>
          <p:cNvSpPr txBox="1"/>
          <p:nvPr/>
        </p:nvSpPr>
        <p:spPr>
          <a:xfrm>
            <a:off x="10007600" y="2362200"/>
            <a:ext cx="914400" cy="276999"/>
          </a:xfrm>
          <a:prstGeom prst="rect">
            <a:avLst/>
          </a:prstGeom>
          <a:noFill/>
        </p:spPr>
        <p:txBody>
          <a:bodyPr vert="horz" wrap="square" lIns="0" tIns="0" rIns="0" bIns="0" rtlCol="0" anchor="ctr">
            <a:noAutofit/>
          </a:bodyPr>
          <a:lstStyle/>
          <a:p>
            <a:r>
              <a:rPr lang="en-US" sz="1200" b="1">
                <a:solidFill>
                  <a:srgbClr val="1A2238"/>
                </a:solidFill>
                <a:latin typeface="Calibri" panose="020F0502020204030204" pitchFamily="34" charset="0"/>
              </a:rPr>
              <a:t>CALENDAR</a:t>
            </a:r>
          </a:p>
        </p:txBody>
      </p:sp>
      <p:cxnSp>
        <p:nvCxnSpPr>
          <p:cNvPr id="18" name="Conector reto 17">
            <a:extLst>
              <a:ext uri="{FF2B5EF4-FFF2-40B4-BE49-F238E27FC236}">
                <a16:creationId xmlns:a16="http://schemas.microsoft.com/office/drawing/2014/main" id="{881BB7B1-61BD-E84E-488D-549FAD59A99B}"/>
              </a:ext>
            </a:extLst>
          </p:cNvPr>
          <p:cNvCxnSpPr/>
          <p:nvPr/>
        </p:nvCxnSpPr>
        <p:spPr>
          <a:xfrm flipH="1">
            <a:off x="6985000" y="3708400"/>
            <a:ext cx="1778000" cy="1231900"/>
          </a:xfrm>
          <a:prstGeom prst="line">
            <a:avLst/>
          </a:prstGeom>
          <a:ln w="15240" cap="flat" cmpd="sng" algn="ctr">
            <a:solidFill>
              <a:srgbClr val="A8B3C9">
                <a:alpha val="8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9" name="Retângulo: Cantos Arredondados 18">
            <a:extLst>
              <a:ext uri="{FF2B5EF4-FFF2-40B4-BE49-F238E27FC236}">
                <a16:creationId xmlns:a16="http://schemas.microsoft.com/office/drawing/2014/main" id="{1560AEEA-D74C-24D3-4C51-295487ECAC0B}"/>
              </a:ext>
            </a:extLst>
          </p:cNvPr>
          <p:cNvSpPr/>
          <p:nvPr/>
        </p:nvSpPr>
        <p:spPr>
          <a:xfrm>
            <a:off x="6286500" y="4508500"/>
            <a:ext cx="1397000" cy="863600"/>
          </a:xfrm>
          <a:prstGeom prst="roundRect">
            <a:avLst/>
          </a:prstGeom>
          <a:solidFill>
            <a:srgbClr val="FFFFFF"/>
          </a:solidFill>
          <a:ln w="12700" cap="flat" cmpd="sng" algn="ctr">
            <a:solidFill>
              <a:srgbClr val="42D4C7">
                <a:alpha val="65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Elipse 19">
            <a:extLst>
              <a:ext uri="{FF2B5EF4-FFF2-40B4-BE49-F238E27FC236}">
                <a16:creationId xmlns:a16="http://schemas.microsoft.com/office/drawing/2014/main" id="{361B7796-128C-3A7D-2320-B68983880D6C}"/>
              </a:ext>
            </a:extLst>
          </p:cNvPr>
          <p:cNvSpPr/>
          <p:nvPr/>
        </p:nvSpPr>
        <p:spPr>
          <a:xfrm>
            <a:off x="6375400" y="4660900"/>
            <a:ext cx="254000" cy="254000"/>
          </a:xfrm>
          <a:prstGeom prst="ellipse">
            <a:avLst/>
          </a:prstGeom>
          <a:solidFill>
            <a:srgbClr val="42D4C7">
              <a:alpha val="12000"/>
            </a:srgbClr>
          </a:solidFill>
          <a:ln w="0" cap="flat" cmpd="sng" algn="ctr">
            <a:solidFill>
              <a:srgbClr val="42D4C7">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Elipse 20">
            <a:extLst>
              <a:ext uri="{FF2B5EF4-FFF2-40B4-BE49-F238E27FC236}">
                <a16:creationId xmlns:a16="http://schemas.microsoft.com/office/drawing/2014/main" id="{9F1F7D48-2096-CB8E-7E93-5AADB0AAE588}"/>
              </a:ext>
            </a:extLst>
          </p:cNvPr>
          <p:cNvSpPr/>
          <p:nvPr/>
        </p:nvSpPr>
        <p:spPr>
          <a:xfrm>
            <a:off x="6438900" y="4724400"/>
            <a:ext cx="127000" cy="127000"/>
          </a:xfrm>
          <a:prstGeom prst="ellipse">
            <a:avLst/>
          </a:prstGeom>
          <a:solidFill>
            <a:srgbClr val="42D4C7">
              <a:alpha val="92000"/>
            </a:srgbClr>
          </a:solidFill>
          <a:ln w="0" cap="flat" cmpd="sng" algn="ctr">
            <a:solidFill>
              <a:srgbClr val="42D4C7">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aixaDeTexto 21">
            <a:extLst>
              <a:ext uri="{FF2B5EF4-FFF2-40B4-BE49-F238E27FC236}">
                <a16:creationId xmlns:a16="http://schemas.microsoft.com/office/drawing/2014/main" id="{7CE735D4-A5A8-7CFD-2E3F-40BFFA66182D}"/>
              </a:ext>
            </a:extLst>
          </p:cNvPr>
          <p:cNvSpPr txBox="1"/>
          <p:nvPr/>
        </p:nvSpPr>
        <p:spPr>
          <a:xfrm>
            <a:off x="6642100" y="4737100"/>
            <a:ext cx="914400" cy="276999"/>
          </a:xfrm>
          <a:prstGeom prst="rect">
            <a:avLst/>
          </a:prstGeom>
          <a:noFill/>
        </p:spPr>
        <p:txBody>
          <a:bodyPr vert="horz" wrap="square" lIns="0" tIns="0" rIns="0" bIns="0" rtlCol="0" anchor="ctr">
            <a:noAutofit/>
          </a:bodyPr>
          <a:lstStyle/>
          <a:p>
            <a:r>
              <a:rPr lang="en-US" sz="1200" b="1">
                <a:solidFill>
                  <a:srgbClr val="1A2238"/>
                </a:solidFill>
                <a:latin typeface="Calibri" panose="020F0502020204030204" pitchFamily="34" charset="0"/>
              </a:rPr>
              <a:t>TASKS</a:t>
            </a:r>
          </a:p>
        </p:txBody>
      </p:sp>
      <p:cxnSp>
        <p:nvCxnSpPr>
          <p:cNvPr id="23" name="Conector reto 22">
            <a:extLst>
              <a:ext uri="{FF2B5EF4-FFF2-40B4-BE49-F238E27FC236}">
                <a16:creationId xmlns:a16="http://schemas.microsoft.com/office/drawing/2014/main" id="{336F3F8C-3105-101E-FA71-45A7131625E7}"/>
              </a:ext>
            </a:extLst>
          </p:cNvPr>
          <p:cNvCxnSpPr/>
          <p:nvPr/>
        </p:nvCxnSpPr>
        <p:spPr>
          <a:xfrm>
            <a:off x="8763000" y="3708400"/>
            <a:ext cx="1587500" cy="1231900"/>
          </a:xfrm>
          <a:prstGeom prst="line">
            <a:avLst/>
          </a:prstGeom>
          <a:ln w="15240" cap="flat" cmpd="sng" algn="ctr">
            <a:solidFill>
              <a:srgbClr val="A8B3C9">
                <a:alpha val="80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4" name="Retângulo: Cantos Arredondados 23">
            <a:extLst>
              <a:ext uri="{FF2B5EF4-FFF2-40B4-BE49-F238E27FC236}">
                <a16:creationId xmlns:a16="http://schemas.microsoft.com/office/drawing/2014/main" id="{DF596B78-9576-5C44-4C72-DAC2C268F2C2}"/>
              </a:ext>
            </a:extLst>
          </p:cNvPr>
          <p:cNvSpPr/>
          <p:nvPr/>
        </p:nvSpPr>
        <p:spPr>
          <a:xfrm>
            <a:off x="9652000" y="4508500"/>
            <a:ext cx="1397000" cy="863600"/>
          </a:xfrm>
          <a:prstGeom prst="roundRect">
            <a:avLst/>
          </a:prstGeom>
          <a:solidFill>
            <a:srgbClr val="FFFFFF"/>
          </a:solidFill>
          <a:ln w="12700" cap="flat" cmpd="sng" algn="ctr">
            <a:solidFill>
              <a:srgbClr val="B9F36B">
                <a:alpha val="65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Elipse 24">
            <a:extLst>
              <a:ext uri="{FF2B5EF4-FFF2-40B4-BE49-F238E27FC236}">
                <a16:creationId xmlns:a16="http://schemas.microsoft.com/office/drawing/2014/main" id="{25C8462E-7D56-7345-D349-3A8ED044C48E}"/>
              </a:ext>
            </a:extLst>
          </p:cNvPr>
          <p:cNvSpPr/>
          <p:nvPr/>
        </p:nvSpPr>
        <p:spPr>
          <a:xfrm>
            <a:off x="9740900" y="4660900"/>
            <a:ext cx="254000" cy="254000"/>
          </a:xfrm>
          <a:prstGeom prst="ellipse">
            <a:avLst/>
          </a:prstGeom>
          <a:solidFill>
            <a:srgbClr val="B9F36B">
              <a:alpha val="12000"/>
            </a:srgbClr>
          </a:solidFill>
          <a:ln w="0" cap="flat" cmpd="sng" algn="ctr">
            <a:solidFill>
              <a:srgbClr val="B9F36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Elipse 25">
            <a:extLst>
              <a:ext uri="{FF2B5EF4-FFF2-40B4-BE49-F238E27FC236}">
                <a16:creationId xmlns:a16="http://schemas.microsoft.com/office/drawing/2014/main" id="{DDD4D89D-9E62-C4BA-5E76-6784A6A9BECC}"/>
              </a:ext>
            </a:extLst>
          </p:cNvPr>
          <p:cNvSpPr/>
          <p:nvPr/>
        </p:nvSpPr>
        <p:spPr>
          <a:xfrm>
            <a:off x="9804400" y="4724400"/>
            <a:ext cx="127000" cy="127000"/>
          </a:xfrm>
          <a:prstGeom prst="ellipse">
            <a:avLst/>
          </a:prstGeom>
          <a:solidFill>
            <a:srgbClr val="B9F36B">
              <a:alpha val="92000"/>
            </a:srgbClr>
          </a:solidFill>
          <a:ln w="0" cap="flat" cmpd="sng" algn="ctr">
            <a:solidFill>
              <a:srgbClr val="B9F36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aixaDeTexto 26">
            <a:extLst>
              <a:ext uri="{FF2B5EF4-FFF2-40B4-BE49-F238E27FC236}">
                <a16:creationId xmlns:a16="http://schemas.microsoft.com/office/drawing/2014/main" id="{E4587C6F-F2E0-7904-DC7D-D0F01BA3C1B5}"/>
              </a:ext>
            </a:extLst>
          </p:cNvPr>
          <p:cNvSpPr txBox="1"/>
          <p:nvPr/>
        </p:nvSpPr>
        <p:spPr>
          <a:xfrm>
            <a:off x="10007600" y="4737100"/>
            <a:ext cx="914400" cy="276999"/>
          </a:xfrm>
          <a:prstGeom prst="rect">
            <a:avLst/>
          </a:prstGeom>
          <a:noFill/>
        </p:spPr>
        <p:txBody>
          <a:bodyPr vert="horz" wrap="square" lIns="0" tIns="0" rIns="0" bIns="0" rtlCol="0" anchor="ctr">
            <a:noAutofit/>
          </a:bodyPr>
          <a:lstStyle/>
          <a:p>
            <a:r>
              <a:rPr lang="en-US" sz="1200" b="1">
                <a:solidFill>
                  <a:srgbClr val="1A2238"/>
                </a:solidFill>
                <a:latin typeface="Calibri" panose="020F0502020204030204" pitchFamily="34" charset="0"/>
              </a:rPr>
              <a:t>FITNESS</a:t>
            </a:r>
          </a:p>
        </p:txBody>
      </p:sp>
      <p:sp>
        <p:nvSpPr>
          <p:cNvPr id="28" name="Elipse 27">
            <a:extLst>
              <a:ext uri="{FF2B5EF4-FFF2-40B4-BE49-F238E27FC236}">
                <a16:creationId xmlns:a16="http://schemas.microsoft.com/office/drawing/2014/main" id="{64A81BE3-0CA9-3F4A-6A7F-39C9A6119FFD}"/>
              </a:ext>
            </a:extLst>
          </p:cNvPr>
          <p:cNvSpPr/>
          <p:nvPr/>
        </p:nvSpPr>
        <p:spPr>
          <a:xfrm>
            <a:off x="635000" y="2717800"/>
            <a:ext cx="381000" cy="381000"/>
          </a:xfrm>
          <a:prstGeom prst="ellipse">
            <a:avLst/>
          </a:prstGeom>
          <a:solidFill>
            <a:srgbClr val="E3E8F4"/>
          </a:solidFill>
          <a:ln w="0" cap="flat" cmpd="sng" algn="ctr">
            <a:solidFill>
              <a:srgbClr val="E3E8F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aixaDeTexto 28">
            <a:extLst>
              <a:ext uri="{FF2B5EF4-FFF2-40B4-BE49-F238E27FC236}">
                <a16:creationId xmlns:a16="http://schemas.microsoft.com/office/drawing/2014/main" id="{CD9C5A86-2E14-227B-7C79-6BC8206D1445}"/>
              </a:ext>
            </a:extLst>
          </p:cNvPr>
          <p:cNvSpPr txBox="1"/>
          <p:nvPr/>
        </p:nvSpPr>
        <p:spPr>
          <a:xfrm>
            <a:off x="635000" y="2717800"/>
            <a:ext cx="381000" cy="276999"/>
          </a:xfrm>
          <a:prstGeom prst="rect">
            <a:avLst/>
          </a:prstGeom>
          <a:noFill/>
        </p:spPr>
        <p:txBody>
          <a:bodyPr vert="horz" wrap="square" lIns="0" tIns="0" rIns="0" bIns="0" rtlCol="0" anchor="ctr">
            <a:noAutofit/>
          </a:bodyPr>
          <a:lstStyle/>
          <a:p>
            <a:pPr algn="ctr"/>
            <a:r>
              <a:rPr lang="en-US" sz="1000" b="1">
                <a:solidFill>
                  <a:srgbClr val="4E5B77"/>
                </a:solidFill>
                <a:latin typeface="Calibri" panose="020F0502020204030204" pitchFamily="34" charset="0"/>
              </a:rPr>
              <a:t>01</a:t>
            </a:r>
          </a:p>
        </p:txBody>
      </p:sp>
      <p:sp>
        <p:nvSpPr>
          <p:cNvPr id="30" name="CaixaDeTexto 29">
            <a:extLst>
              <a:ext uri="{FF2B5EF4-FFF2-40B4-BE49-F238E27FC236}">
                <a16:creationId xmlns:a16="http://schemas.microsoft.com/office/drawing/2014/main" id="{F2413AA9-393D-C538-8E12-452DE1CF750F}"/>
              </a:ext>
            </a:extLst>
          </p:cNvPr>
          <p:cNvSpPr txBox="1"/>
          <p:nvPr/>
        </p:nvSpPr>
        <p:spPr>
          <a:xfrm>
            <a:off x="1206500" y="2692400"/>
            <a:ext cx="3683000" cy="276999"/>
          </a:xfrm>
          <a:prstGeom prst="rect">
            <a:avLst/>
          </a:prstGeom>
          <a:noFill/>
        </p:spPr>
        <p:txBody>
          <a:bodyPr vert="horz" wrap="square" lIns="0" tIns="0" rIns="0" bIns="0" rtlCol="0" anchor="t">
            <a:noAutofit/>
          </a:bodyPr>
          <a:lstStyle/>
          <a:p>
            <a:r>
              <a:rPr lang="en-US" sz="1400" b="1">
                <a:solidFill>
                  <a:srgbClr val="18213A"/>
                </a:solidFill>
                <a:latin typeface="Calibri" panose="020F0502020204030204" pitchFamily="34" charset="0"/>
              </a:rPr>
              <a:t>Fragmented context</a:t>
            </a:r>
          </a:p>
        </p:txBody>
      </p:sp>
      <p:sp>
        <p:nvSpPr>
          <p:cNvPr id="31" name="CaixaDeTexto 30">
            <a:extLst>
              <a:ext uri="{FF2B5EF4-FFF2-40B4-BE49-F238E27FC236}">
                <a16:creationId xmlns:a16="http://schemas.microsoft.com/office/drawing/2014/main" id="{D79719F0-7982-B38E-0B52-4EFF76F81A80}"/>
              </a:ext>
            </a:extLst>
          </p:cNvPr>
          <p:cNvSpPr txBox="1"/>
          <p:nvPr/>
        </p:nvSpPr>
        <p:spPr>
          <a:xfrm>
            <a:off x="1206500" y="3009900"/>
            <a:ext cx="4191000" cy="276999"/>
          </a:xfrm>
          <a:prstGeom prst="rect">
            <a:avLst/>
          </a:prstGeom>
          <a:noFill/>
        </p:spPr>
        <p:txBody>
          <a:bodyPr vert="horz" wrap="square" lIns="0" tIns="0" rIns="0" bIns="0" rtlCol="0" anchor="t">
            <a:noAutofit/>
          </a:bodyPr>
          <a:lstStyle/>
          <a:p>
            <a:r>
              <a:rPr lang="en-US" sz="1100">
                <a:solidFill>
                  <a:srgbClr val="68748D"/>
                </a:solidFill>
                <a:latin typeface="Calibri" panose="020F0502020204030204" pitchFamily="34" charset="0"/>
              </a:rPr>
              <a:t>Each app knows only part of your routine.</a:t>
            </a:r>
          </a:p>
        </p:txBody>
      </p:sp>
      <p:sp>
        <p:nvSpPr>
          <p:cNvPr id="32" name="Elipse 31">
            <a:extLst>
              <a:ext uri="{FF2B5EF4-FFF2-40B4-BE49-F238E27FC236}">
                <a16:creationId xmlns:a16="http://schemas.microsoft.com/office/drawing/2014/main" id="{74FAB0F1-87F2-00D6-EA3F-2649E0CBD058}"/>
              </a:ext>
            </a:extLst>
          </p:cNvPr>
          <p:cNvSpPr/>
          <p:nvPr/>
        </p:nvSpPr>
        <p:spPr>
          <a:xfrm>
            <a:off x="635000" y="3784600"/>
            <a:ext cx="381000" cy="381000"/>
          </a:xfrm>
          <a:prstGeom prst="ellipse">
            <a:avLst/>
          </a:prstGeom>
          <a:solidFill>
            <a:srgbClr val="E3E8F4"/>
          </a:solidFill>
          <a:ln w="0" cap="flat" cmpd="sng" algn="ctr">
            <a:solidFill>
              <a:srgbClr val="E3E8F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aixaDeTexto 32">
            <a:extLst>
              <a:ext uri="{FF2B5EF4-FFF2-40B4-BE49-F238E27FC236}">
                <a16:creationId xmlns:a16="http://schemas.microsoft.com/office/drawing/2014/main" id="{A04F32C2-392C-F60A-BAF8-C2B37D5D6AC4}"/>
              </a:ext>
            </a:extLst>
          </p:cNvPr>
          <p:cNvSpPr txBox="1"/>
          <p:nvPr/>
        </p:nvSpPr>
        <p:spPr>
          <a:xfrm>
            <a:off x="635000" y="3784600"/>
            <a:ext cx="381000" cy="276999"/>
          </a:xfrm>
          <a:prstGeom prst="rect">
            <a:avLst/>
          </a:prstGeom>
          <a:noFill/>
        </p:spPr>
        <p:txBody>
          <a:bodyPr vert="horz" wrap="square" lIns="0" tIns="0" rIns="0" bIns="0" rtlCol="0" anchor="ctr">
            <a:noAutofit/>
          </a:bodyPr>
          <a:lstStyle/>
          <a:p>
            <a:pPr algn="ctr"/>
            <a:r>
              <a:rPr lang="en-US" sz="1000" b="1">
                <a:solidFill>
                  <a:srgbClr val="4E5B77"/>
                </a:solidFill>
                <a:latin typeface="Calibri" panose="020F0502020204030204" pitchFamily="34" charset="0"/>
              </a:rPr>
              <a:t>02</a:t>
            </a:r>
          </a:p>
        </p:txBody>
      </p:sp>
      <p:sp>
        <p:nvSpPr>
          <p:cNvPr id="34" name="CaixaDeTexto 33">
            <a:extLst>
              <a:ext uri="{FF2B5EF4-FFF2-40B4-BE49-F238E27FC236}">
                <a16:creationId xmlns:a16="http://schemas.microsoft.com/office/drawing/2014/main" id="{5E2CFC11-79C1-0729-343F-99792FF2600F}"/>
              </a:ext>
            </a:extLst>
          </p:cNvPr>
          <p:cNvSpPr txBox="1"/>
          <p:nvPr/>
        </p:nvSpPr>
        <p:spPr>
          <a:xfrm>
            <a:off x="1206500" y="3759200"/>
            <a:ext cx="3683000" cy="276999"/>
          </a:xfrm>
          <a:prstGeom prst="rect">
            <a:avLst/>
          </a:prstGeom>
          <a:noFill/>
        </p:spPr>
        <p:txBody>
          <a:bodyPr vert="horz" wrap="square" lIns="0" tIns="0" rIns="0" bIns="0" rtlCol="0" anchor="t">
            <a:noAutofit/>
          </a:bodyPr>
          <a:lstStyle/>
          <a:p>
            <a:r>
              <a:rPr lang="en-US" sz="1400" b="1">
                <a:solidFill>
                  <a:srgbClr val="18213A"/>
                </a:solidFill>
                <a:latin typeface="Calibri" panose="020F0502020204030204" pitchFamily="34" charset="0"/>
              </a:rPr>
              <a:t>Conflicting decisions</a:t>
            </a:r>
          </a:p>
        </p:txBody>
      </p:sp>
      <p:sp>
        <p:nvSpPr>
          <p:cNvPr id="35" name="CaixaDeTexto 34">
            <a:extLst>
              <a:ext uri="{FF2B5EF4-FFF2-40B4-BE49-F238E27FC236}">
                <a16:creationId xmlns:a16="http://schemas.microsoft.com/office/drawing/2014/main" id="{1891E059-6206-3440-4D83-4C9F8E7AAF6D}"/>
              </a:ext>
            </a:extLst>
          </p:cNvPr>
          <p:cNvSpPr txBox="1"/>
          <p:nvPr/>
        </p:nvSpPr>
        <p:spPr>
          <a:xfrm>
            <a:off x="1206500" y="4076700"/>
            <a:ext cx="4191000" cy="276999"/>
          </a:xfrm>
          <a:prstGeom prst="rect">
            <a:avLst/>
          </a:prstGeom>
          <a:noFill/>
        </p:spPr>
        <p:txBody>
          <a:bodyPr vert="horz" wrap="square" lIns="0" tIns="0" rIns="0" bIns="0" rtlCol="0" anchor="t">
            <a:noAutofit/>
          </a:bodyPr>
          <a:lstStyle/>
          <a:p>
            <a:r>
              <a:rPr lang="en-US" sz="1100">
                <a:solidFill>
                  <a:srgbClr val="68748D"/>
                </a:solidFill>
                <a:latin typeface="Calibri" panose="020F0502020204030204" pitchFamily="34" charset="0"/>
              </a:rPr>
              <a:t>One priority takes a slot another app considered free.</a:t>
            </a:r>
          </a:p>
        </p:txBody>
      </p:sp>
      <p:sp>
        <p:nvSpPr>
          <p:cNvPr id="36" name="Elipse 35">
            <a:extLst>
              <a:ext uri="{FF2B5EF4-FFF2-40B4-BE49-F238E27FC236}">
                <a16:creationId xmlns:a16="http://schemas.microsoft.com/office/drawing/2014/main" id="{7B7F02EF-12C6-C9E8-A619-B72EC630AC35}"/>
              </a:ext>
            </a:extLst>
          </p:cNvPr>
          <p:cNvSpPr/>
          <p:nvPr/>
        </p:nvSpPr>
        <p:spPr>
          <a:xfrm>
            <a:off x="635000" y="4851400"/>
            <a:ext cx="381000" cy="381000"/>
          </a:xfrm>
          <a:prstGeom prst="ellipse">
            <a:avLst/>
          </a:prstGeom>
          <a:solidFill>
            <a:srgbClr val="E3E8F4"/>
          </a:solidFill>
          <a:ln w="0" cap="flat" cmpd="sng" algn="ctr">
            <a:solidFill>
              <a:srgbClr val="E3E8F4">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aixaDeTexto 36">
            <a:extLst>
              <a:ext uri="{FF2B5EF4-FFF2-40B4-BE49-F238E27FC236}">
                <a16:creationId xmlns:a16="http://schemas.microsoft.com/office/drawing/2014/main" id="{A48FD2E0-157E-389F-B203-7A047238F68C}"/>
              </a:ext>
            </a:extLst>
          </p:cNvPr>
          <p:cNvSpPr txBox="1"/>
          <p:nvPr/>
        </p:nvSpPr>
        <p:spPr>
          <a:xfrm>
            <a:off x="635000" y="4851400"/>
            <a:ext cx="381000" cy="276999"/>
          </a:xfrm>
          <a:prstGeom prst="rect">
            <a:avLst/>
          </a:prstGeom>
          <a:noFill/>
        </p:spPr>
        <p:txBody>
          <a:bodyPr vert="horz" wrap="square" lIns="0" tIns="0" rIns="0" bIns="0" rtlCol="0" anchor="ctr">
            <a:noAutofit/>
          </a:bodyPr>
          <a:lstStyle/>
          <a:p>
            <a:pPr algn="ctr"/>
            <a:r>
              <a:rPr lang="en-US" sz="1000" b="1">
                <a:solidFill>
                  <a:srgbClr val="4E5B77"/>
                </a:solidFill>
                <a:latin typeface="Calibri" panose="020F0502020204030204" pitchFamily="34" charset="0"/>
              </a:rPr>
              <a:t>03</a:t>
            </a:r>
          </a:p>
        </p:txBody>
      </p:sp>
      <p:sp>
        <p:nvSpPr>
          <p:cNvPr id="38" name="CaixaDeTexto 37">
            <a:extLst>
              <a:ext uri="{FF2B5EF4-FFF2-40B4-BE49-F238E27FC236}">
                <a16:creationId xmlns:a16="http://schemas.microsoft.com/office/drawing/2014/main" id="{7F577591-14D1-3E48-4688-53381AD481DB}"/>
              </a:ext>
            </a:extLst>
          </p:cNvPr>
          <p:cNvSpPr txBox="1"/>
          <p:nvPr/>
        </p:nvSpPr>
        <p:spPr>
          <a:xfrm>
            <a:off x="1206500" y="4826000"/>
            <a:ext cx="3683000" cy="276999"/>
          </a:xfrm>
          <a:prstGeom prst="rect">
            <a:avLst/>
          </a:prstGeom>
          <a:noFill/>
        </p:spPr>
        <p:txBody>
          <a:bodyPr vert="horz" wrap="square" lIns="0" tIns="0" rIns="0" bIns="0" rtlCol="0" anchor="t">
            <a:noAutofit/>
          </a:bodyPr>
          <a:lstStyle/>
          <a:p>
            <a:r>
              <a:rPr lang="en-US" sz="1400" b="1">
                <a:solidFill>
                  <a:srgbClr val="18213A"/>
                </a:solidFill>
                <a:latin typeface="Calibri" panose="020F0502020204030204" pitchFamily="34" charset="0"/>
              </a:rPr>
              <a:t>Automation without trust</a:t>
            </a:r>
          </a:p>
        </p:txBody>
      </p:sp>
      <p:sp>
        <p:nvSpPr>
          <p:cNvPr id="39" name="CaixaDeTexto 38">
            <a:extLst>
              <a:ext uri="{FF2B5EF4-FFF2-40B4-BE49-F238E27FC236}">
                <a16:creationId xmlns:a16="http://schemas.microsoft.com/office/drawing/2014/main" id="{FF2EA0DC-53AD-6636-6700-CC05221A08CF}"/>
              </a:ext>
            </a:extLst>
          </p:cNvPr>
          <p:cNvSpPr txBox="1"/>
          <p:nvPr/>
        </p:nvSpPr>
        <p:spPr>
          <a:xfrm>
            <a:off x="1206500" y="5143500"/>
            <a:ext cx="4191000" cy="276999"/>
          </a:xfrm>
          <a:prstGeom prst="rect">
            <a:avLst/>
          </a:prstGeom>
          <a:noFill/>
        </p:spPr>
        <p:txBody>
          <a:bodyPr vert="horz" wrap="square" lIns="0" tIns="0" rIns="0" bIns="0" rtlCol="0" anchor="t">
            <a:noAutofit/>
          </a:bodyPr>
          <a:lstStyle/>
          <a:p>
            <a:r>
              <a:rPr lang="en-US" sz="1100">
                <a:solidFill>
                  <a:srgbClr val="68748D"/>
                </a:solidFill>
                <a:latin typeface="Calibri" panose="020F0502020204030204" pitchFamily="34" charset="0"/>
              </a:rPr>
              <a:t>Agents that act without explanation increase risk.</a:t>
            </a:r>
          </a:p>
        </p:txBody>
      </p:sp>
      <p:sp>
        <p:nvSpPr>
          <p:cNvPr id="40" name="CaixaDeTexto 39">
            <a:extLst>
              <a:ext uri="{FF2B5EF4-FFF2-40B4-BE49-F238E27FC236}">
                <a16:creationId xmlns:a16="http://schemas.microsoft.com/office/drawing/2014/main" id="{17A6C357-4633-D330-6014-8E89E61C2301}"/>
              </a:ext>
            </a:extLst>
          </p:cNvPr>
          <p:cNvSpPr txBox="1"/>
          <p:nvPr/>
        </p:nvSpPr>
        <p:spPr>
          <a:xfrm>
            <a:off x="609600" y="6413500"/>
            <a:ext cx="8255000" cy="276999"/>
          </a:xfrm>
          <a:prstGeom prst="rect">
            <a:avLst/>
          </a:prstGeom>
          <a:noFill/>
        </p:spPr>
        <p:txBody>
          <a:bodyPr vert="horz" wrap="square" lIns="0" tIns="0" rIns="0" bIns="0" rtlCol="0" anchor="t">
            <a:noAutofit/>
          </a:bodyPr>
          <a:lstStyle/>
          <a:p>
            <a:r>
              <a:rPr lang="en-US" sz="900">
                <a:solidFill>
                  <a:srgbClr val="69738A"/>
                </a:solidFill>
                <a:latin typeface="Calibri" panose="020F0502020204030204" pitchFamily="34" charset="0"/>
              </a:rPr>
              <a:t>CLON - personal AI operating system</a:t>
            </a:r>
          </a:p>
        </p:txBody>
      </p:sp>
    </p:spTree>
    <p:extLst>
      <p:ext uri="{BB962C8B-B14F-4D97-AF65-F5344CB8AC3E}">
        <p14:creationId xmlns:p14="http://schemas.microsoft.com/office/powerpoint/2010/main" val="838961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816"/>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D45509E9-1A91-9A3E-04F4-F042A8FB8AFC}"/>
              </a:ext>
            </a:extLst>
          </p:cNvPr>
          <p:cNvSpPr txBox="1"/>
          <p:nvPr/>
        </p:nvSpPr>
        <p:spPr>
          <a:xfrm>
            <a:off x="609600" y="355600"/>
            <a:ext cx="5334000" cy="276999"/>
          </a:xfrm>
          <a:prstGeom prst="rect">
            <a:avLst/>
          </a:prstGeom>
          <a:noFill/>
        </p:spPr>
        <p:txBody>
          <a:bodyPr vert="horz" wrap="square" lIns="0" tIns="0" rIns="0" bIns="0" rtlCol="0" anchor="t">
            <a:noAutofit/>
          </a:bodyPr>
          <a:lstStyle/>
          <a:p>
            <a:r>
              <a:rPr lang="en-US" sz="1100" b="1">
                <a:solidFill>
                  <a:srgbClr val="5BE7F5"/>
                </a:solidFill>
                <a:latin typeface="Calibri" panose="020F0502020204030204" pitchFamily="34" charset="0"/>
              </a:rPr>
              <a:t>THE SOLUTION</a:t>
            </a:r>
          </a:p>
        </p:txBody>
      </p:sp>
      <p:sp>
        <p:nvSpPr>
          <p:cNvPr id="3" name="CaixaDeTexto 2">
            <a:extLst>
              <a:ext uri="{FF2B5EF4-FFF2-40B4-BE49-F238E27FC236}">
                <a16:creationId xmlns:a16="http://schemas.microsoft.com/office/drawing/2014/main" id="{3DA4FC95-4073-29F3-16A6-ABE1D20B4E56}"/>
              </a:ext>
            </a:extLst>
          </p:cNvPr>
          <p:cNvSpPr txBox="1"/>
          <p:nvPr/>
        </p:nvSpPr>
        <p:spPr>
          <a:xfrm>
            <a:off x="609600" y="698500"/>
            <a:ext cx="9652000" cy="276999"/>
          </a:xfrm>
          <a:prstGeom prst="rect">
            <a:avLst/>
          </a:prstGeom>
          <a:noFill/>
        </p:spPr>
        <p:txBody>
          <a:bodyPr vert="horz" wrap="square" lIns="0" tIns="0" rIns="0" bIns="0" rtlCol="0" anchor="t">
            <a:noAutofit/>
          </a:bodyPr>
          <a:lstStyle/>
          <a:p>
            <a:r>
              <a:rPr lang="en-US" sz="3000" b="1">
                <a:solidFill>
                  <a:srgbClr val="F7FAFF"/>
                </a:solidFill>
                <a:latin typeface="Cambria" panose="02040503050406030204" pitchFamily="18" charset="0"/>
              </a:rPr>
              <a:t>One master agent. Four specialists.</a:t>
            </a:r>
          </a:p>
        </p:txBody>
      </p:sp>
      <p:sp>
        <p:nvSpPr>
          <p:cNvPr id="4" name="CaixaDeTexto 3">
            <a:extLst>
              <a:ext uri="{FF2B5EF4-FFF2-40B4-BE49-F238E27FC236}">
                <a16:creationId xmlns:a16="http://schemas.microsoft.com/office/drawing/2014/main" id="{4A0B4B60-B037-6143-DFEA-488D8B6AC22D}"/>
              </a:ext>
            </a:extLst>
          </p:cNvPr>
          <p:cNvSpPr txBox="1"/>
          <p:nvPr/>
        </p:nvSpPr>
        <p:spPr>
          <a:xfrm>
            <a:off x="11049000" y="482600"/>
            <a:ext cx="533400" cy="276999"/>
          </a:xfrm>
          <a:prstGeom prst="rect">
            <a:avLst/>
          </a:prstGeom>
          <a:noFill/>
        </p:spPr>
        <p:txBody>
          <a:bodyPr vert="horz" wrap="square" lIns="0" tIns="0" rIns="0" bIns="0" rtlCol="0" anchor="ctr">
            <a:noAutofit/>
          </a:bodyPr>
          <a:lstStyle/>
          <a:p>
            <a:pPr algn="ctr"/>
            <a:r>
              <a:rPr lang="en-US" sz="1200" b="1">
                <a:solidFill>
                  <a:srgbClr val="8FA1C7"/>
                </a:solidFill>
                <a:latin typeface="Calibri" panose="020F0502020204030204" pitchFamily="34" charset="0"/>
              </a:rPr>
              <a:t>03</a:t>
            </a:r>
          </a:p>
        </p:txBody>
      </p:sp>
      <p:sp>
        <p:nvSpPr>
          <p:cNvPr id="5" name="CaixaDeTexto 4">
            <a:extLst>
              <a:ext uri="{FF2B5EF4-FFF2-40B4-BE49-F238E27FC236}">
                <a16:creationId xmlns:a16="http://schemas.microsoft.com/office/drawing/2014/main" id="{FEAD371E-4658-A3DF-956E-796CD140E937}"/>
              </a:ext>
            </a:extLst>
          </p:cNvPr>
          <p:cNvSpPr txBox="1"/>
          <p:nvPr/>
        </p:nvSpPr>
        <p:spPr>
          <a:xfrm>
            <a:off x="609600" y="1409700"/>
            <a:ext cx="10414000" cy="276999"/>
          </a:xfrm>
          <a:prstGeom prst="rect">
            <a:avLst/>
          </a:prstGeom>
          <a:noFill/>
        </p:spPr>
        <p:txBody>
          <a:bodyPr vert="horz" wrap="square" lIns="0" tIns="0" rIns="0" bIns="0" rtlCol="0" anchor="t">
            <a:noAutofit/>
          </a:bodyPr>
          <a:lstStyle/>
          <a:p>
            <a:r>
              <a:rPr lang="en-US" sz="1600">
                <a:solidFill>
                  <a:srgbClr val="AAB8D2"/>
                </a:solidFill>
                <a:latin typeface="Calibri" panose="020F0502020204030204" pitchFamily="34" charset="0"/>
              </a:rPr>
              <a:t>The Master Clone understands intent, delegates work and combines the results into one coherent response.</a:t>
            </a:r>
          </a:p>
        </p:txBody>
      </p:sp>
      <p:sp>
        <p:nvSpPr>
          <p:cNvPr id="6" name="Elipse 5">
            <a:extLst>
              <a:ext uri="{FF2B5EF4-FFF2-40B4-BE49-F238E27FC236}">
                <a16:creationId xmlns:a16="http://schemas.microsoft.com/office/drawing/2014/main" id="{7D0E2419-1CA6-B79B-90E4-ED94E4497200}"/>
              </a:ext>
            </a:extLst>
          </p:cNvPr>
          <p:cNvSpPr/>
          <p:nvPr/>
        </p:nvSpPr>
        <p:spPr>
          <a:xfrm>
            <a:off x="4648200" y="2286000"/>
            <a:ext cx="2895600" cy="2895600"/>
          </a:xfrm>
          <a:prstGeom prst="ellipse">
            <a:avLst/>
          </a:prstGeom>
          <a:solidFill>
            <a:srgbClr val="5BE7F5">
              <a:alpha val="7000"/>
            </a:srgbClr>
          </a:solidFill>
          <a:ln w="0" cap="flat" cmpd="sng" algn="ctr">
            <a:solidFill>
              <a:srgbClr val="5BE7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lipse 6">
            <a:extLst>
              <a:ext uri="{FF2B5EF4-FFF2-40B4-BE49-F238E27FC236}">
                <a16:creationId xmlns:a16="http://schemas.microsoft.com/office/drawing/2014/main" id="{202C5359-4446-0D57-8C15-73D65BCF14D5}"/>
              </a:ext>
            </a:extLst>
          </p:cNvPr>
          <p:cNvSpPr/>
          <p:nvPr/>
        </p:nvSpPr>
        <p:spPr>
          <a:xfrm>
            <a:off x="5041900" y="2679700"/>
            <a:ext cx="2108200" cy="2108200"/>
          </a:xfrm>
          <a:prstGeom prst="ellipse">
            <a:avLst/>
          </a:prstGeom>
          <a:solidFill>
            <a:srgbClr val="0C132B"/>
          </a:solidFill>
          <a:ln w="25400" cap="flat" cmpd="sng" algn="ctr">
            <a:solidFill>
              <a:srgbClr val="5BE7F5">
                <a:alpha val="85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Elipse 7">
            <a:extLst>
              <a:ext uri="{FF2B5EF4-FFF2-40B4-BE49-F238E27FC236}">
                <a16:creationId xmlns:a16="http://schemas.microsoft.com/office/drawing/2014/main" id="{36BE7F68-6DAB-063D-8B95-DB74824D021C}"/>
              </a:ext>
            </a:extLst>
          </p:cNvPr>
          <p:cNvSpPr/>
          <p:nvPr/>
        </p:nvSpPr>
        <p:spPr>
          <a:xfrm>
            <a:off x="5359400" y="2997200"/>
            <a:ext cx="1473200" cy="1473200"/>
          </a:xfrm>
          <a:prstGeom prst="ellipse">
            <a:avLst/>
          </a:prstGeom>
          <a:solidFill>
            <a:srgbClr val="151F42">
              <a:alpha val="88000"/>
            </a:srgbClr>
          </a:solidFill>
          <a:ln w="12700" cap="flat" cmpd="sng" algn="ctr">
            <a:solidFill>
              <a:srgbClr val="9879FF">
                <a:alpha val="45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aixaDeTexto 8">
            <a:extLst>
              <a:ext uri="{FF2B5EF4-FFF2-40B4-BE49-F238E27FC236}">
                <a16:creationId xmlns:a16="http://schemas.microsoft.com/office/drawing/2014/main" id="{73D5E09A-F711-7CB9-DC4A-52CD7C5DF3A2}"/>
              </a:ext>
            </a:extLst>
          </p:cNvPr>
          <p:cNvSpPr txBox="1"/>
          <p:nvPr/>
        </p:nvSpPr>
        <p:spPr>
          <a:xfrm>
            <a:off x="5359400" y="3340100"/>
            <a:ext cx="1473200" cy="276999"/>
          </a:xfrm>
          <a:prstGeom prst="rect">
            <a:avLst/>
          </a:prstGeom>
          <a:noFill/>
        </p:spPr>
        <p:txBody>
          <a:bodyPr vert="horz" wrap="square" lIns="0" tIns="0" rIns="0" bIns="0" rtlCol="0" anchor="ctr">
            <a:noAutofit/>
          </a:bodyPr>
          <a:lstStyle/>
          <a:p>
            <a:pPr algn="ctr"/>
            <a:r>
              <a:rPr lang="en-US" b="1">
                <a:solidFill>
                  <a:srgbClr val="F7FAFF"/>
                </a:solidFill>
                <a:latin typeface="Cambria" panose="02040503050406030204" pitchFamily="18" charset="0"/>
              </a:rPr>
              <a:t>MASTER</a:t>
            </a:r>
          </a:p>
        </p:txBody>
      </p:sp>
      <p:sp>
        <p:nvSpPr>
          <p:cNvPr id="10" name="CaixaDeTexto 9">
            <a:extLst>
              <a:ext uri="{FF2B5EF4-FFF2-40B4-BE49-F238E27FC236}">
                <a16:creationId xmlns:a16="http://schemas.microsoft.com/office/drawing/2014/main" id="{83BEE5D1-E512-E966-EB2D-4CCC3FC4C5D9}"/>
              </a:ext>
            </a:extLst>
          </p:cNvPr>
          <p:cNvSpPr txBox="1"/>
          <p:nvPr/>
        </p:nvSpPr>
        <p:spPr>
          <a:xfrm>
            <a:off x="5359400" y="3784600"/>
            <a:ext cx="1473200" cy="276999"/>
          </a:xfrm>
          <a:prstGeom prst="rect">
            <a:avLst/>
          </a:prstGeom>
          <a:noFill/>
        </p:spPr>
        <p:txBody>
          <a:bodyPr vert="horz" wrap="square" lIns="0" tIns="0" rIns="0" bIns="0" rtlCol="0" anchor="ctr">
            <a:noAutofit/>
          </a:bodyPr>
          <a:lstStyle/>
          <a:p>
            <a:pPr algn="ctr"/>
            <a:r>
              <a:rPr lang="en-US" sz="1100">
                <a:solidFill>
                  <a:srgbClr val="5BE7F5"/>
                </a:solidFill>
                <a:latin typeface="Calibri" panose="020F0502020204030204" pitchFamily="34" charset="0"/>
              </a:rPr>
              <a:t>coordinates</a:t>
            </a:r>
          </a:p>
        </p:txBody>
      </p:sp>
      <p:sp>
        <p:nvSpPr>
          <p:cNvPr id="11" name="Retângulo: Cantos Arredondados 10">
            <a:extLst>
              <a:ext uri="{FF2B5EF4-FFF2-40B4-BE49-F238E27FC236}">
                <a16:creationId xmlns:a16="http://schemas.microsoft.com/office/drawing/2014/main" id="{BB8C9FD8-1A9D-F6B5-D92A-78BA2D6A16EE}"/>
              </a:ext>
            </a:extLst>
          </p:cNvPr>
          <p:cNvSpPr/>
          <p:nvPr/>
        </p:nvSpPr>
        <p:spPr>
          <a:xfrm>
            <a:off x="698500" y="2095500"/>
            <a:ext cx="3149600" cy="965200"/>
          </a:xfrm>
          <a:prstGeom prst="roundRect">
            <a:avLst/>
          </a:prstGeom>
          <a:solidFill>
            <a:srgbClr val="111A35"/>
          </a:solidFill>
          <a:ln w="12700" cap="flat" cmpd="sng" algn="ctr">
            <a:solidFill>
              <a:srgbClr val="5AA7FF">
                <a:alpha val="32000"/>
              </a:srgbClr>
            </a:solidFill>
            <a:prstDash val="solid"/>
            <a:miter lim="800000"/>
            <a:headEnd type="none" w="med" len="med"/>
            <a:tailEnd type="none" w="med" len="med"/>
          </a:ln>
          <a:effectLst>
            <a:outerShdw blurRad="127000" dist="50800" dir="5400000" rotWithShape="0">
              <a:srgbClr val="000000">
                <a:alpha val="3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a:extLst>
              <a:ext uri="{FF2B5EF4-FFF2-40B4-BE49-F238E27FC236}">
                <a16:creationId xmlns:a16="http://schemas.microsoft.com/office/drawing/2014/main" id="{4995A41D-2251-5166-0809-3954DC41CAB7}"/>
              </a:ext>
            </a:extLst>
          </p:cNvPr>
          <p:cNvSpPr/>
          <p:nvPr/>
        </p:nvSpPr>
        <p:spPr>
          <a:xfrm>
            <a:off x="876300" y="2260600"/>
            <a:ext cx="431800" cy="431800"/>
          </a:xfrm>
          <a:prstGeom prst="ellipse">
            <a:avLst/>
          </a:prstGeom>
          <a:solidFill>
            <a:srgbClr val="5AA7FF">
              <a:alpha val="92000"/>
            </a:srgbClr>
          </a:solidFill>
          <a:ln w="0" cap="flat" cmpd="sng" algn="ctr">
            <a:solidFill>
              <a:srgbClr val="5AA7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ixaDeTexto 12">
            <a:extLst>
              <a:ext uri="{FF2B5EF4-FFF2-40B4-BE49-F238E27FC236}">
                <a16:creationId xmlns:a16="http://schemas.microsoft.com/office/drawing/2014/main" id="{D7D377D3-74A7-A341-5768-02B55F06E77A}"/>
              </a:ext>
            </a:extLst>
          </p:cNvPr>
          <p:cNvSpPr txBox="1"/>
          <p:nvPr/>
        </p:nvSpPr>
        <p:spPr>
          <a:xfrm>
            <a:off x="876300" y="2260600"/>
            <a:ext cx="431800" cy="276999"/>
          </a:xfrm>
          <a:prstGeom prst="rect">
            <a:avLst/>
          </a:prstGeom>
          <a:noFill/>
        </p:spPr>
        <p:txBody>
          <a:bodyPr vert="horz" wrap="square" lIns="0" tIns="0" rIns="0" bIns="0" rtlCol="0" anchor="ctr">
            <a:noAutofit/>
          </a:bodyPr>
          <a:lstStyle/>
          <a:p>
            <a:pPr algn="ctr"/>
            <a:r>
              <a:rPr lang="en-US" sz="1600" b="1">
                <a:solidFill>
                  <a:srgbClr val="07101F"/>
                </a:solidFill>
                <a:latin typeface="Calibri" panose="020F0502020204030204" pitchFamily="34" charset="0"/>
              </a:rPr>
              <a:t>C</a:t>
            </a:r>
          </a:p>
        </p:txBody>
      </p:sp>
      <p:sp>
        <p:nvSpPr>
          <p:cNvPr id="14" name="CaixaDeTexto 13">
            <a:extLst>
              <a:ext uri="{FF2B5EF4-FFF2-40B4-BE49-F238E27FC236}">
                <a16:creationId xmlns:a16="http://schemas.microsoft.com/office/drawing/2014/main" id="{F84E8B9D-C7BC-523D-FB3D-67787AA61F95}"/>
              </a:ext>
            </a:extLst>
          </p:cNvPr>
          <p:cNvSpPr txBox="1"/>
          <p:nvPr/>
        </p:nvSpPr>
        <p:spPr>
          <a:xfrm>
            <a:off x="1435100" y="2247900"/>
            <a:ext cx="2260600" cy="276999"/>
          </a:xfrm>
          <a:prstGeom prst="rect">
            <a:avLst/>
          </a:prstGeom>
          <a:noFill/>
        </p:spPr>
        <p:txBody>
          <a:bodyPr vert="horz" wrap="square" lIns="0" tIns="0" rIns="0" bIns="0" rtlCol="0" anchor="t">
            <a:noAutofit/>
          </a:bodyPr>
          <a:lstStyle/>
          <a:p>
            <a:r>
              <a:rPr lang="en-US" sz="1500" b="1">
                <a:solidFill>
                  <a:srgbClr val="F7FAFF"/>
                </a:solidFill>
                <a:latin typeface="Calibri" panose="020F0502020204030204" pitchFamily="34" charset="0"/>
              </a:rPr>
              <a:t>Communication</a:t>
            </a:r>
          </a:p>
        </p:txBody>
      </p:sp>
      <p:sp>
        <p:nvSpPr>
          <p:cNvPr id="15" name="CaixaDeTexto 14">
            <a:extLst>
              <a:ext uri="{FF2B5EF4-FFF2-40B4-BE49-F238E27FC236}">
                <a16:creationId xmlns:a16="http://schemas.microsoft.com/office/drawing/2014/main" id="{D3770812-AB75-6493-0935-69D106B2B509}"/>
              </a:ext>
            </a:extLst>
          </p:cNvPr>
          <p:cNvSpPr txBox="1"/>
          <p:nvPr/>
        </p:nvSpPr>
        <p:spPr>
          <a:xfrm>
            <a:off x="1435100" y="2578100"/>
            <a:ext cx="2260600" cy="276999"/>
          </a:xfrm>
          <a:prstGeom prst="rect">
            <a:avLst/>
          </a:prstGeom>
          <a:noFill/>
        </p:spPr>
        <p:txBody>
          <a:bodyPr vert="horz" wrap="square" lIns="0" tIns="0" rIns="0" bIns="0" rtlCol="0" anchor="t">
            <a:noAutofit/>
          </a:bodyPr>
          <a:lstStyle/>
          <a:p>
            <a:r>
              <a:rPr lang="en-US" sz="1100">
                <a:solidFill>
                  <a:srgbClr val="9AAAC9"/>
                </a:solidFill>
                <a:latin typeface="Calibri" panose="020F0502020204030204" pitchFamily="34" charset="0"/>
              </a:rPr>
              <a:t>Inbox triage, meetings and drafts.</a:t>
            </a:r>
          </a:p>
        </p:txBody>
      </p:sp>
      <p:sp>
        <p:nvSpPr>
          <p:cNvPr id="16" name="Retângulo: Cantos Arredondados 15">
            <a:extLst>
              <a:ext uri="{FF2B5EF4-FFF2-40B4-BE49-F238E27FC236}">
                <a16:creationId xmlns:a16="http://schemas.microsoft.com/office/drawing/2014/main" id="{B7DB00A2-4659-E81B-5044-56F6817CE742}"/>
              </a:ext>
            </a:extLst>
          </p:cNvPr>
          <p:cNvSpPr/>
          <p:nvPr/>
        </p:nvSpPr>
        <p:spPr>
          <a:xfrm>
            <a:off x="698500" y="4127500"/>
            <a:ext cx="3149600" cy="965200"/>
          </a:xfrm>
          <a:prstGeom prst="roundRect">
            <a:avLst/>
          </a:prstGeom>
          <a:solidFill>
            <a:srgbClr val="111A35"/>
          </a:solidFill>
          <a:ln w="12700" cap="flat" cmpd="sng" algn="ctr">
            <a:solidFill>
              <a:srgbClr val="9879FF">
                <a:alpha val="32000"/>
              </a:srgbClr>
            </a:solidFill>
            <a:prstDash val="solid"/>
            <a:miter lim="800000"/>
            <a:headEnd type="none" w="med" len="med"/>
            <a:tailEnd type="none" w="med" len="med"/>
          </a:ln>
          <a:effectLst>
            <a:outerShdw blurRad="127000" dist="50800" dir="5400000" rotWithShape="0">
              <a:srgbClr val="000000">
                <a:alpha val="3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ipse 16">
            <a:extLst>
              <a:ext uri="{FF2B5EF4-FFF2-40B4-BE49-F238E27FC236}">
                <a16:creationId xmlns:a16="http://schemas.microsoft.com/office/drawing/2014/main" id="{BE9451A7-40C6-8F55-953E-D4553D457CBF}"/>
              </a:ext>
            </a:extLst>
          </p:cNvPr>
          <p:cNvSpPr/>
          <p:nvPr/>
        </p:nvSpPr>
        <p:spPr>
          <a:xfrm>
            <a:off x="876300" y="4292600"/>
            <a:ext cx="431800" cy="431800"/>
          </a:xfrm>
          <a:prstGeom prst="ellipse">
            <a:avLst/>
          </a:prstGeom>
          <a:solidFill>
            <a:srgbClr val="9879FF">
              <a:alpha val="92000"/>
            </a:srgbClr>
          </a:solidFill>
          <a:ln w="0" cap="flat" cmpd="sng" algn="ctr">
            <a:solidFill>
              <a:srgbClr val="9879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aixaDeTexto 17">
            <a:extLst>
              <a:ext uri="{FF2B5EF4-FFF2-40B4-BE49-F238E27FC236}">
                <a16:creationId xmlns:a16="http://schemas.microsoft.com/office/drawing/2014/main" id="{DB814716-00C6-529B-BD05-E148D1E2A07D}"/>
              </a:ext>
            </a:extLst>
          </p:cNvPr>
          <p:cNvSpPr txBox="1"/>
          <p:nvPr/>
        </p:nvSpPr>
        <p:spPr>
          <a:xfrm>
            <a:off x="876300" y="4292600"/>
            <a:ext cx="431800" cy="276999"/>
          </a:xfrm>
          <a:prstGeom prst="rect">
            <a:avLst/>
          </a:prstGeom>
          <a:noFill/>
        </p:spPr>
        <p:txBody>
          <a:bodyPr vert="horz" wrap="square" lIns="0" tIns="0" rIns="0" bIns="0" rtlCol="0" anchor="ctr">
            <a:noAutofit/>
          </a:bodyPr>
          <a:lstStyle/>
          <a:p>
            <a:pPr algn="ctr"/>
            <a:r>
              <a:rPr lang="en-US" sz="1600" b="1">
                <a:solidFill>
                  <a:srgbClr val="07101F"/>
                </a:solidFill>
                <a:latin typeface="Calibri" panose="020F0502020204030204" pitchFamily="34" charset="0"/>
              </a:rPr>
              <a:t>W</a:t>
            </a:r>
          </a:p>
        </p:txBody>
      </p:sp>
      <p:sp>
        <p:nvSpPr>
          <p:cNvPr id="19" name="CaixaDeTexto 18">
            <a:extLst>
              <a:ext uri="{FF2B5EF4-FFF2-40B4-BE49-F238E27FC236}">
                <a16:creationId xmlns:a16="http://schemas.microsoft.com/office/drawing/2014/main" id="{1F09F40B-4EDD-171F-B118-2A17F1616C22}"/>
              </a:ext>
            </a:extLst>
          </p:cNvPr>
          <p:cNvSpPr txBox="1"/>
          <p:nvPr/>
        </p:nvSpPr>
        <p:spPr>
          <a:xfrm>
            <a:off x="1435100" y="4279900"/>
            <a:ext cx="2260600" cy="276999"/>
          </a:xfrm>
          <a:prstGeom prst="rect">
            <a:avLst/>
          </a:prstGeom>
          <a:noFill/>
        </p:spPr>
        <p:txBody>
          <a:bodyPr vert="horz" wrap="square" lIns="0" tIns="0" rIns="0" bIns="0" rtlCol="0" anchor="t">
            <a:noAutofit/>
          </a:bodyPr>
          <a:lstStyle/>
          <a:p>
            <a:r>
              <a:rPr lang="en-US" sz="1500" b="1">
                <a:solidFill>
                  <a:srgbClr val="F7FAFF"/>
                </a:solidFill>
                <a:latin typeface="Calibri" panose="020F0502020204030204" pitchFamily="34" charset="0"/>
              </a:rPr>
              <a:t>Work</a:t>
            </a:r>
          </a:p>
        </p:txBody>
      </p:sp>
      <p:sp>
        <p:nvSpPr>
          <p:cNvPr id="20" name="CaixaDeTexto 19">
            <a:extLst>
              <a:ext uri="{FF2B5EF4-FFF2-40B4-BE49-F238E27FC236}">
                <a16:creationId xmlns:a16="http://schemas.microsoft.com/office/drawing/2014/main" id="{F0D96EDC-21E0-FD01-E0B1-C9EE529E1840}"/>
              </a:ext>
            </a:extLst>
          </p:cNvPr>
          <p:cNvSpPr txBox="1"/>
          <p:nvPr/>
        </p:nvSpPr>
        <p:spPr>
          <a:xfrm>
            <a:off x="1435100" y="4610100"/>
            <a:ext cx="2260600" cy="276999"/>
          </a:xfrm>
          <a:prstGeom prst="rect">
            <a:avLst/>
          </a:prstGeom>
          <a:noFill/>
        </p:spPr>
        <p:txBody>
          <a:bodyPr vert="horz" wrap="square" lIns="0" tIns="0" rIns="0" bIns="0" rtlCol="0" anchor="t">
            <a:noAutofit/>
          </a:bodyPr>
          <a:lstStyle/>
          <a:p>
            <a:r>
              <a:rPr lang="en-US" sz="1100">
                <a:solidFill>
                  <a:srgbClr val="9AAAC9"/>
                </a:solidFill>
                <a:latin typeface="Calibri" panose="020F0502020204030204" pitchFamily="34" charset="0"/>
              </a:rPr>
              <a:t>Priorities, focus and briefings.</a:t>
            </a:r>
          </a:p>
        </p:txBody>
      </p:sp>
      <p:sp>
        <p:nvSpPr>
          <p:cNvPr id="21" name="Retângulo: Cantos Arredondados 20">
            <a:extLst>
              <a:ext uri="{FF2B5EF4-FFF2-40B4-BE49-F238E27FC236}">
                <a16:creationId xmlns:a16="http://schemas.microsoft.com/office/drawing/2014/main" id="{EEC4F94F-C522-6D8B-6A37-FAD8AABB35CA}"/>
              </a:ext>
            </a:extLst>
          </p:cNvPr>
          <p:cNvSpPr/>
          <p:nvPr/>
        </p:nvSpPr>
        <p:spPr>
          <a:xfrm>
            <a:off x="8343900" y="2095500"/>
            <a:ext cx="3149600" cy="965200"/>
          </a:xfrm>
          <a:prstGeom prst="roundRect">
            <a:avLst/>
          </a:prstGeom>
          <a:solidFill>
            <a:srgbClr val="111A35"/>
          </a:solidFill>
          <a:ln w="12700" cap="flat" cmpd="sng" algn="ctr">
            <a:solidFill>
              <a:srgbClr val="42D4C7">
                <a:alpha val="32000"/>
              </a:srgbClr>
            </a:solidFill>
            <a:prstDash val="solid"/>
            <a:miter lim="800000"/>
            <a:headEnd type="none" w="med" len="med"/>
            <a:tailEnd type="none" w="med" len="med"/>
          </a:ln>
          <a:effectLst>
            <a:outerShdw blurRad="127000" dist="50800" dir="5400000" rotWithShape="0">
              <a:srgbClr val="000000">
                <a:alpha val="3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Elipse 21">
            <a:extLst>
              <a:ext uri="{FF2B5EF4-FFF2-40B4-BE49-F238E27FC236}">
                <a16:creationId xmlns:a16="http://schemas.microsoft.com/office/drawing/2014/main" id="{D2A40B55-405E-8E66-3FD0-0115C0A58542}"/>
              </a:ext>
            </a:extLst>
          </p:cNvPr>
          <p:cNvSpPr/>
          <p:nvPr/>
        </p:nvSpPr>
        <p:spPr>
          <a:xfrm>
            <a:off x="8521700" y="2260600"/>
            <a:ext cx="431800" cy="431800"/>
          </a:xfrm>
          <a:prstGeom prst="ellipse">
            <a:avLst/>
          </a:prstGeom>
          <a:solidFill>
            <a:srgbClr val="42D4C7">
              <a:alpha val="92000"/>
            </a:srgbClr>
          </a:solidFill>
          <a:ln w="0" cap="flat" cmpd="sng" algn="ctr">
            <a:solidFill>
              <a:srgbClr val="42D4C7">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ixaDeTexto 22">
            <a:extLst>
              <a:ext uri="{FF2B5EF4-FFF2-40B4-BE49-F238E27FC236}">
                <a16:creationId xmlns:a16="http://schemas.microsoft.com/office/drawing/2014/main" id="{B5966443-6CA4-3B77-476D-E7555C9FBBE2}"/>
              </a:ext>
            </a:extLst>
          </p:cNvPr>
          <p:cNvSpPr txBox="1"/>
          <p:nvPr/>
        </p:nvSpPr>
        <p:spPr>
          <a:xfrm>
            <a:off x="8521700" y="2260600"/>
            <a:ext cx="431800" cy="276999"/>
          </a:xfrm>
          <a:prstGeom prst="rect">
            <a:avLst/>
          </a:prstGeom>
          <a:noFill/>
        </p:spPr>
        <p:txBody>
          <a:bodyPr vert="horz" wrap="square" lIns="0" tIns="0" rIns="0" bIns="0" rtlCol="0" anchor="ctr">
            <a:noAutofit/>
          </a:bodyPr>
          <a:lstStyle/>
          <a:p>
            <a:pPr algn="ctr"/>
            <a:r>
              <a:rPr lang="en-US" sz="1600" b="1">
                <a:solidFill>
                  <a:srgbClr val="07101F"/>
                </a:solidFill>
                <a:latin typeface="Calibri" panose="020F0502020204030204" pitchFamily="34" charset="0"/>
              </a:rPr>
              <a:t>L</a:t>
            </a:r>
          </a:p>
        </p:txBody>
      </p:sp>
      <p:sp>
        <p:nvSpPr>
          <p:cNvPr id="24" name="CaixaDeTexto 23">
            <a:extLst>
              <a:ext uri="{FF2B5EF4-FFF2-40B4-BE49-F238E27FC236}">
                <a16:creationId xmlns:a16="http://schemas.microsoft.com/office/drawing/2014/main" id="{F450D8C1-3FBA-60F3-8B58-A0818586C7FC}"/>
              </a:ext>
            </a:extLst>
          </p:cNvPr>
          <p:cNvSpPr txBox="1"/>
          <p:nvPr/>
        </p:nvSpPr>
        <p:spPr>
          <a:xfrm>
            <a:off x="9080500" y="2247900"/>
            <a:ext cx="2260600" cy="276999"/>
          </a:xfrm>
          <a:prstGeom prst="rect">
            <a:avLst/>
          </a:prstGeom>
          <a:noFill/>
        </p:spPr>
        <p:txBody>
          <a:bodyPr vert="horz" wrap="square" lIns="0" tIns="0" rIns="0" bIns="0" rtlCol="0" anchor="t">
            <a:noAutofit/>
          </a:bodyPr>
          <a:lstStyle/>
          <a:p>
            <a:r>
              <a:rPr lang="en-US" sz="1500" b="1">
                <a:solidFill>
                  <a:srgbClr val="F7FAFF"/>
                </a:solidFill>
                <a:latin typeface="Calibri" panose="020F0502020204030204" pitchFamily="34" charset="0"/>
              </a:rPr>
              <a:t>Life</a:t>
            </a:r>
          </a:p>
        </p:txBody>
      </p:sp>
      <p:sp>
        <p:nvSpPr>
          <p:cNvPr id="25" name="CaixaDeTexto 24">
            <a:extLst>
              <a:ext uri="{FF2B5EF4-FFF2-40B4-BE49-F238E27FC236}">
                <a16:creationId xmlns:a16="http://schemas.microsoft.com/office/drawing/2014/main" id="{B462F1C5-CC63-0FCE-51CF-F579BB20889B}"/>
              </a:ext>
            </a:extLst>
          </p:cNvPr>
          <p:cNvSpPr txBox="1"/>
          <p:nvPr/>
        </p:nvSpPr>
        <p:spPr>
          <a:xfrm>
            <a:off x="9080500" y="2578100"/>
            <a:ext cx="2260600" cy="276999"/>
          </a:xfrm>
          <a:prstGeom prst="rect">
            <a:avLst/>
          </a:prstGeom>
          <a:noFill/>
        </p:spPr>
        <p:txBody>
          <a:bodyPr vert="horz" wrap="square" lIns="0" tIns="0" rIns="0" bIns="0" rtlCol="0" anchor="t">
            <a:noAutofit/>
          </a:bodyPr>
          <a:lstStyle/>
          <a:p>
            <a:r>
              <a:rPr lang="en-US" sz="1100">
                <a:solidFill>
                  <a:srgbClr val="9AAAC9"/>
                </a:solidFill>
                <a:latin typeface="Calibri" panose="020F0502020204030204" pitchFamily="34" charset="0"/>
              </a:rPr>
              <a:t>Events matched to time and interests.</a:t>
            </a:r>
          </a:p>
        </p:txBody>
      </p:sp>
      <p:sp>
        <p:nvSpPr>
          <p:cNvPr id="26" name="Retângulo: Cantos Arredondados 25">
            <a:extLst>
              <a:ext uri="{FF2B5EF4-FFF2-40B4-BE49-F238E27FC236}">
                <a16:creationId xmlns:a16="http://schemas.microsoft.com/office/drawing/2014/main" id="{29D4F818-2627-982B-A6E2-9B759E576EBA}"/>
              </a:ext>
            </a:extLst>
          </p:cNvPr>
          <p:cNvSpPr/>
          <p:nvPr/>
        </p:nvSpPr>
        <p:spPr>
          <a:xfrm>
            <a:off x="8343900" y="4127500"/>
            <a:ext cx="3149600" cy="965200"/>
          </a:xfrm>
          <a:prstGeom prst="roundRect">
            <a:avLst/>
          </a:prstGeom>
          <a:solidFill>
            <a:srgbClr val="111A35"/>
          </a:solidFill>
          <a:ln w="12700" cap="flat" cmpd="sng" algn="ctr">
            <a:solidFill>
              <a:srgbClr val="B9F36B">
                <a:alpha val="32000"/>
              </a:srgbClr>
            </a:solidFill>
            <a:prstDash val="solid"/>
            <a:miter lim="800000"/>
            <a:headEnd type="none" w="med" len="med"/>
            <a:tailEnd type="none" w="med" len="med"/>
          </a:ln>
          <a:effectLst>
            <a:outerShdw blurRad="127000" dist="50800" dir="5400000" rotWithShape="0">
              <a:srgbClr val="000000">
                <a:alpha val="3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Elipse 26">
            <a:extLst>
              <a:ext uri="{FF2B5EF4-FFF2-40B4-BE49-F238E27FC236}">
                <a16:creationId xmlns:a16="http://schemas.microsoft.com/office/drawing/2014/main" id="{CC04EB4B-25C2-2EBB-C7B0-487FAF76C6E8}"/>
              </a:ext>
            </a:extLst>
          </p:cNvPr>
          <p:cNvSpPr/>
          <p:nvPr/>
        </p:nvSpPr>
        <p:spPr>
          <a:xfrm>
            <a:off x="8521700" y="4292600"/>
            <a:ext cx="431800" cy="431800"/>
          </a:xfrm>
          <a:prstGeom prst="ellipse">
            <a:avLst/>
          </a:prstGeom>
          <a:solidFill>
            <a:srgbClr val="B9F36B">
              <a:alpha val="92000"/>
            </a:srgbClr>
          </a:solidFill>
          <a:ln w="0" cap="flat" cmpd="sng" algn="ctr">
            <a:solidFill>
              <a:srgbClr val="B9F36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aixaDeTexto 27">
            <a:extLst>
              <a:ext uri="{FF2B5EF4-FFF2-40B4-BE49-F238E27FC236}">
                <a16:creationId xmlns:a16="http://schemas.microsoft.com/office/drawing/2014/main" id="{C50208EB-D690-2608-1B35-62CC3FFAA1AD}"/>
              </a:ext>
            </a:extLst>
          </p:cNvPr>
          <p:cNvSpPr txBox="1"/>
          <p:nvPr/>
        </p:nvSpPr>
        <p:spPr>
          <a:xfrm>
            <a:off x="8521700" y="4292600"/>
            <a:ext cx="431800" cy="276999"/>
          </a:xfrm>
          <a:prstGeom prst="rect">
            <a:avLst/>
          </a:prstGeom>
          <a:noFill/>
        </p:spPr>
        <p:txBody>
          <a:bodyPr vert="horz" wrap="square" lIns="0" tIns="0" rIns="0" bIns="0" rtlCol="0" anchor="ctr">
            <a:noAutofit/>
          </a:bodyPr>
          <a:lstStyle/>
          <a:p>
            <a:pPr algn="ctr"/>
            <a:r>
              <a:rPr lang="en-US" sz="1600" b="1">
                <a:solidFill>
                  <a:srgbClr val="07101F"/>
                </a:solidFill>
                <a:latin typeface="Calibri" panose="020F0502020204030204" pitchFamily="34" charset="0"/>
              </a:rPr>
              <a:t>F</a:t>
            </a:r>
          </a:p>
        </p:txBody>
      </p:sp>
      <p:sp>
        <p:nvSpPr>
          <p:cNvPr id="29" name="CaixaDeTexto 28">
            <a:extLst>
              <a:ext uri="{FF2B5EF4-FFF2-40B4-BE49-F238E27FC236}">
                <a16:creationId xmlns:a16="http://schemas.microsoft.com/office/drawing/2014/main" id="{2BF51A27-79E1-166E-CA3D-07E4F4FEC4EC}"/>
              </a:ext>
            </a:extLst>
          </p:cNvPr>
          <p:cNvSpPr txBox="1"/>
          <p:nvPr/>
        </p:nvSpPr>
        <p:spPr>
          <a:xfrm>
            <a:off x="9080500" y="4279900"/>
            <a:ext cx="2260600" cy="276999"/>
          </a:xfrm>
          <a:prstGeom prst="rect">
            <a:avLst/>
          </a:prstGeom>
          <a:noFill/>
        </p:spPr>
        <p:txBody>
          <a:bodyPr vert="horz" wrap="square" lIns="0" tIns="0" rIns="0" bIns="0" rtlCol="0" anchor="t">
            <a:noAutofit/>
          </a:bodyPr>
          <a:lstStyle/>
          <a:p>
            <a:r>
              <a:rPr lang="en-US" sz="1500" b="1">
                <a:solidFill>
                  <a:srgbClr val="F7FAFF"/>
                </a:solidFill>
                <a:latin typeface="Calibri" panose="020F0502020204030204" pitchFamily="34" charset="0"/>
              </a:rPr>
              <a:t>Fitness</a:t>
            </a:r>
          </a:p>
        </p:txBody>
      </p:sp>
      <p:sp>
        <p:nvSpPr>
          <p:cNvPr id="30" name="CaixaDeTexto 29">
            <a:extLst>
              <a:ext uri="{FF2B5EF4-FFF2-40B4-BE49-F238E27FC236}">
                <a16:creationId xmlns:a16="http://schemas.microsoft.com/office/drawing/2014/main" id="{754997F8-A2E7-059E-1618-6EDD569BD2D9}"/>
              </a:ext>
            </a:extLst>
          </p:cNvPr>
          <p:cNvSpPr txBox="1"/>
          <p:nvPr/>
        </p:nvSpPr>
        <p:spPr>
          <a:xfrm>
            <a:off x="9080500" y="4610100"/>
            <a:ext cx="2260600" cy="276999"/>
          </a:xfrm>
          <a:prstGeom prst="rect">
            <a:avLst/>
          </a:prstGeom>
          <a:noFill/>
        </p:spPr>
        <p:txBody>
          <a:bodyPr vert="horz" wrap="square" lIns="0" tIns="0" rIns="0" bIns="0" rtlCol="0" anchor="t">
            <a:noAutofit/>
          </a:bodyPr>
          <a:lstStyle/>
          <a:p>
            <a:r>
              <a:rPr lang="en-US" sz="1100">
                <a:solidFill>
                  <a:srgbClr val="9AAAC9"/>
                </a:solidFill>
                <a:latin typeface="Calibri" panose="020F0502020204030204" pitchFamily="34" charset="0"/>
              </a:rPr>
              <a:t>Workouts, scheduling and consistency.</a:t>
            </a:r>
          </a:p>
        </p:txBody>
      </p:sp>
      <p:cxnSp>
        <p:nvCxnSpPr>
          <p:cNvPr id="31" name="Conector reto 30">
            <a:extLst>
              <a:ext uri="{FF2B5EF4-FFF2-40B4-BE49-F238E27FC236}">
                <a16:creationId xmlns:a16="http://schemas.microsoft.com/office/drawing/2014/main" id="{1138F150-4F5C-F8B1-F9CE-94DAE0355EFE}"/>
              </a:ext>
            </a:extLst>
          </p:cNvPr>
          <p:cNvCxnSpPr/>
          <p:nvPr/>
        </p:nvCxnSpPr>
        <p:spPr>
          <a:xfrm>
            <a:off x="3848100" y="2578100"/>
            <a:ext cx="1193800" cy="723900"/>
          </a:xfrm>
          <a:prstGeom prst="line">
            <a:avLst/>
          </a:prstGeom>
          <a:ln w="20320" cap="flat" cmpd="sng" algn="ctr">
            <a:solidFill>
              <a:srgbClr val="5AA7FF">
                <a:alpha val="85000"/>
              </a:srgbClr>
            </a:solidFill>
            <a:prstDash val="solid"/>
            <a:miter lim="80000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2" name="Conector reto 31">
            <a:extLst>
              <a:ext uri="{FF2B5EF4-FFF2-40B4-BE49-F238E27FC236}">
                <a16:creationId xmlns:a16="http://schemas.microsoft.com/office/drawing/2014/main" id="{E24D3DCC-2DCC-ABCF-CFFC-8689243C66F7}"/>
              </a:ext>
            </a:extLst>
          </p:cNvPr>
          <p:cNvCxnSpPr/>
          <p:nvPr/>
        </p:nvCxnSpPr>
        <p:spPr>
          <a:xfrm flipV="1">
            <a:off x="3848100" y="4191000"/>
            <a:ext cx="1193800" cy="419100"/>
          </a:xfrm>
          <a:prstGeom prst="line">
            <a:avLst/>
          </a:prstGeom>
          <a:ln w="20320" cap="flat" cmpd="sng" algn="ctr">
            <a:solidFill>
              <a:srgbClr val="9879FF">
                <a:alpha val="85000"/>
              </a:srgbClr>
            </a:solidFill>
            <a:prstDash val="solid"/>
            <a:miter lim="80000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3" name="Conector reto 32">
            <a:extLst>
              <a:ext uri="{FF2B5EF4-FFF2-40B4-BE49-F238E27FC236}">
                <a16:creationId xmlns:a16="http://schemas.microsoft.com/office/drawing/2014/main" id="{4068AE07-B9BF-81F8-F929-E32AC2F2BC8C}"/>
              </a:ext>
            </a:extLst>
          </p:cNvPr>
          <p:cNvCxnSpPr/>
          <p:nvPr/>
        </p:nvCxnSpPr>
        <p:spPr>
          <a:xfrm flipH="1">
            <a:off x="7150100" y="2578100"/>
            <a:ext cx="1193800" cy="723900"/>
          </a:xfrm>
          <a:prstGeom prst="line">
            <a:avLst/>
          </a:prstGeom>
          <a:ln w="20320" cap="flat" cmpd="sng" algn="ctr">
            <a:solidFill>
              <a:srgbClr val="42D4C7">
                <a:alpha val="85000"/>
              </a:srgbClr>
            </a:solidFill>
            <a:prstDash val="solid"/>
            <a:miter lim="80000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4" name="Conector reto 33">
            <a:extLst>
              <a:ext uri="{FF2B5EF4-FFF2-40B4-BE49-F238E27FC236}">
                <a16:creationId xmlns:a16="http://schemas.microsoft.com/office/drawing/2014/main" id="{3025B544-0529-5AC5-032E-4F01C4368D0C}"/>
              </a:ext>
            </a:extLst>
          </p:cNvPr>
          <p:cNvCxnSpPr/>
          <p:nvPr/>
        </p:nvCxnSpPr>
        <p:spPr>
          <a:xfrm flipH="1" flipV="1">
            <a:off x="7150100" y="4191000"/>
            <a:ext cx="1193800" cy="419100"/>
          </a:xfrm>
          <a:prstGeom prst="line">
            <a:avLst/>
          </a:prstGeom>
          <a:ln w="20320" cap="flat" cmpd="sng" algn="ctr">
            <a:solidFill>
              <a:srgbClr val="B9F36B">
                <a:alpha val="85000"/>
              </a:srgbClr>
            </a:solidFill>
            <a:prstDash val="solid"/>
            <a:miter lim="800000"/>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5" name="Retângulo: Cantos Arredondados 34">
            <a:extLst>
              <a:ext uri="{FF2B5EF4-FFF2-40B4-BE49-F238E27FC236}">
                <a16:creationId xmlns:a16="http://schemas.microsoft.com/office/drawing/2014/main" id="{A840C4A5-31B2-DDD5-CBFF-EC7A933A1BD9}"/>
              </a:ext>
            </a:extLst>
          </p:cNvPr>
          <p:cNvSpPr/>
          <p:nvPr/>
        </p:nvSpPr>
        <p:spPr>
          <a:xfrm>
            <a:off x="4406900" y="5499100"/>
            <a:ext cx="3378200" cy="558800"/>
          </a:xfrm>
          <a:prstGeom prst="roundRect">
            <a:avLst/>
          </a:prstGeom>
          <a:solidFill>
            <a:srgbClr val="141D3A"/>
          </a:solidFill>
          <a:ln w="12700" cap="flat" cmpd="sng" algn="ctr">
            <a:solidFill>
              <a:srgbClr val="5BE7F5">
                <a:alpha val="4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CaixaDeTexto 35">
            <a:extLst>
              <a:ext uri="{FF2B5EF4-FFF2-40B4-BE49-F238E27FC236}">
                <a16:creationId xmlns:a16="http://schemas.microsoft.com/office/drawing/2014/main" id="{6E1FA9E8-F69B-4568-28BE-9AD7EED5ED73}"/>
              </a:ext>
            </a:extLst>
          </p:cNvPr>
          <p:cNvSpPr txBox="1"/>
          <p:nvPr/>
        </p:nvSpPr>
        <p:spPr>
          <a:xfrm>
            <a:off x="4406900" y="5562600"/>
            <a:ext cx="3378200" cy="276999"/>
          </a:xfrm>
          <a:prstGeom prst="rect">
            <a:avLst/>
          </a:prstGeom>
          <a:noFill/>
        </p:spPr>
        <p:txBody>
          <a:bodyPr vert="horz" wrap="square" lIns="0" tIns="0" rIns="0" bIns="0" rtlCol="0" anchor="ctr">
            <a:noAutofit/>
          </a:bodyPr>
          <a:lstStyle/>
          <a:p>
            <a:pPr algn="ctr"/>
            <a:r>
              <a:rPr lang="en-US" sz="1100" b="1">
                <a:solidFill>
                  <a:srgbClr val="5BE7F5"/>
                </a:solidFill>
                <a:latin typeface="Calibri" panose="020F0502020204030204" pitchFamily="34" charset="0"/>
              </a:rPr>
              <a:t>SHARED CALENDAR</a:t>
            </a:r>
          </a:p>
        </p:txBody>
      </p:sp>
      <p:sp>
        <p:nvSpPr>
          <p:cNvPr id="37" name="CaixaDeTexto 36">
            <a:extLst>
              <a:ext uri="{FF2B5EF4-FFF2-40B4-BE49-F238E27FC236}">
                <a16:creationId xmlns:a16="http://schemas.microsoft.com/office/drawing/2014/main" id="{BC6CFF49-038B-20B5-1340-A051E5642019}"/>
              </a:ext>
            </a:extLst>
          </p:cNvPr>
          <p:cNvSpPr txBox="1"/>
          <p:nvPr/>
        </p:nvSpPr>
        <p:spPr>
          <a:xfrm>
            <a:off x="4406900" y="5816600"/>
            <a:ext cx="3378200" cy="276999"/>
          </a:xfrm>
          <a:prstGeom prst="rect">
            <a:avLst/>
          </a:prstGeom>
          <a:noFill/>
        </p:spPr>
        <p:txBody>
          <a:bodyPr vert="horz" wrap="square" lIns="0" tIns="0" rIns="0" bIns="0" rtlCol="0" anchor="ctr">
            <a:noAutofit/>
          </a:bodyPr>
          <a:lstStyle/>
          <a:p>
            <a:pPr algn="ctr"/>
            <a:r>
              <a:rPr lang="en-US" sz="900">
                <a:solidFill>
                  <a:srgbClr val="9AAAC9"/>
                </a:solidFill>
                <a:latin typeface="Calibri" panose="020F0502020204030204" pitchFamily="34" charset="0"/>
              </a:rPr>
              <a:t>one source of availability</a:t>
            </a:r>
          </a:p>
        </p:txBody>
      </p:sp>
      <p:sp>
        <p:nvSpPr>
          <p:cNvPr id="38" name="CaixaDeTexto 37">
            <a:extLst>
              <a:ext uri="{FF2B5EF4-FFF2-40B4-BE49-F238E27FC236}">
                <a16:creationId xmlns:a16="http://schemas.microsoft.com/office/drawing/2014/main" id="{8BA72453-97B2-1C3D-0B9B-AF7FC38D27F7}"/>
              </a:ext>
            </a:extLst>
          </p:cNvPr>
          <p:cNvSpPr txBox="1"/>
          <p:nvPr/>
        </p:nvSpPr>
        <p:spPr>
          <a:xfrm>
            <a:off x="609600" y="6413500"/>
            <a:ext cx="8255000" cy="276999"/>
          </a:xfrm>
          <a:prstGeom prst="rect">
            <a:avLst/>
          </a:prstGeom>
          <a:noFill/>
        </p:spPr>
        <p:txBody>
          <a:bodyPr vert="horz" wrap="square" lIns="0" tIns="0" rIns="0" bIns="0" rtlCol="0" anchor="t">
            <a:noAutofit/>
          </a:bodyPr>
          <a:lstStyle/>
          <a:p>
            <a:r>
              <a:rPr lang="en-US" sz="900">
                <a:solidFill>
                  <a:srgbClr val="7384A9"/>
                </a:solidFill>
                <a:latin typeface="Calibri" panose="020F0502020204030204" pitchFamily="34" charset="0"/>
              </a:rPr>
              <a:t>Specialization without silos: every clone uses shared services.</a:t>
            </a:r>
          </a:p>
        </p:txBody>
      </p:sp>
    </p:spTree>
    <p:extLst>
      <p:ext uri="{BB962C8B-B14F-4D97-AF65-F5344CB8AC3E}">
        <p14:creationId xmlns:p14="http://schemas.microsoft.com/office/powerpoint/2010/main" val="1204841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CA291528-9162-7DEE-36F7-E2523AE83067}"/>
              </a:ext>
            </a:extLst>
          </p:cNvPr>
          <p:cNvSpPr txBox="1"/>
          <p:nvPr/>
        </p:nvSpPr>
        <p:spPr>
          <a:xfrm>
            <a:off x="609600" y="355600"/>
            <a:ext cx="5334000" cy="276999"/>
          </a:xfrm>
          <a:prstGeom prst="rect">
            <a:avLst/>
          </a:prstGeom>
          <a:noFill/>
        </p:spPr>
        <p:txBody>
          <a:bodyPr vert="horz" wrap="square" lIns="0" tIns="0" rIns="0" bIns="0" rtlCol="0" anchor="t">
            <a:noAutofit/>
          </a:bodyPr>
          <a:lstStyle/>
          <a:p>
            <a:r>
              <a:rPr lang="en-US" sz="1100" b="1">
                <a:solidFill>
                  <a:srgbClr val="5BE7F5"/>
                </a:solidFill>
                <a:latin typeface="Calibri" panose="020F0502020204030204" pitchFamily="34" charset="0"/>
              </a:rPr>
              <a:t>HOW IT WORKS</a:t>
            </a:r>
          </a:p>
        </p:txBody>
      </p:sp>
      <p:sp>
        <p:nvSpPr>
          <p:cNvPr id="3" name="CaixaDeTexto 2">
            <a:extLst>
              <a:ext uri="{FF2B5EF4-FFF2-40B4-BE49-F238E27FC236}">
                <a16:creationId xmlns:a16="http://schemas.microsoft.com/office/drawing/2014/main" id="{B87D4D94-C9BA-FABA-8590-9CB4B4173627}"/>
              </a:ext>
            </a:extLst>
          </p:cNvPr>
          <p:cNvSpPr txBox="1"/>
          <p:nvPr/>
        </p:nvSpPr>
        <p:spPr>
          <a:xfrm>
            <a:off x="609600" y="698500"/>
            <a:ext cx="9652000" cy="276999"/>
          </a:xfrm>
          <a:prstGeom prst="rect">
            <a:avLst/>
          </a:prstGeom>
          <a:noFill/>
        </p:spPr>
        <p:txBody>
          <a:bodyPr vert="horz" wrap="square" lIns="0" tIns="0" rIns="0" bIns="0" rtlCol="0" anchor="t">
            <a:noAutofit/>
          </a:bodyPr>
          <a:lstStyle/>
          <a:p>
            <a:r>
              <a:rPr lang="en-US" sz="3000" b="1">
                <a:solidFill>
                  <a:srgbClr val="101426"/>
                </a:solidFill>
                <a:latin typeface="Cambria" panose="02040503050406030204" pitchFamily="18" charset="0"/>
              </a:rPr>
              <a:t>From intent to action, with you in the loop</a:t>
            </a:r>
          </a:p>
        </p:txBody>
      </p:sp>
      <p:sp>
        <p:nvSpPr>
          <p:cNvPr id="4" name="CaixaDeTexto 3">
            <a:extLst>
              <a:ext uri="{FF2B5EF4-FFF2-40B4-BE49-F238E27FC236}">
                <a16:creationId xmlns:a16="http://schemas.microsoft.com/office/drawing/2014/main" id="{35A25574-DC4D-87A8-7756-E746EA700630}"/>
              </a:ext>
            </a:extLst>
          </p:cNvPr>
          <p:cNvSpPr txBox="1"/>
          <p:nvPr/>
        </p:nvSpPr>
        <p:spPr>
          <a:xfrm>
            <a:off x="11049000" y="482600"/>
            <a:ext cx="533400" cy="276999"/>
          </a:xfrm>
          <a:prstGeom prst="rect">
            <a:avLst/>
          </a:prstGeom>
          <a:noFill/>
        </p:spPr>
        <p:txBody>
          <a:bodyPr vert="horz" wrap="square" lIns="0" tIns="0" rIns="0" bIns="0" rtlCol="0" anchor="ctr">
            <a:noAutofit/>
          </a:bodyPr>
          <a:lstStyle/>
          <a:p>
            <a:pPr algn="ctr"/>
            <a:r>
              <a:rPr lang="en-US" sz="1200" b="1">
                <a:solidFill>
                  <a:srgbClr val="5F6B85"/>
                </a:solidFill>
                <a:latin typeface="Calibri" panose="020F0502020204030204" pitchFamily="34" charset="0"/>
              </a:rPr>
              <a:t>04</a:t>
            </a:r>
          </a:p>
        </p:txBody>
      </p:sp>
      <p:sp>
        <p:nvSpPr>
          <p:cNvPr id="5" name="CaixaDeTexto 4">
            <a:extLst>
              <a:ext uri="{FF2B5EF4-FFF2-40B4-BE49-F238E27FC236}">
                <a16:creationId xmlns:a16="http://schemas.microsoft.com/office/drawing/2014/main" id="{7BF4284F-720D-BF98-04AB-0F2E0C0E550B}"/>
              </a:ext>
            </a:extLst>
          </p:cNvPr>
          <p:cNvSpPr txBox="1"/>
          <p:nvPr/>
        </p:nvSpPr>
        <p:spPr>
          <a:xfrm>
            <a:off x="609600" y="1485900"/>
            <a:ext cx="6858000" cy="276999"/>
          </a:xfrm>
          <a:prstGeom prst="rect">
            <a:avLst/>
          </a:prstGeom>
          <a:noFill/>
        </p:spPr>
        <p:txBody>
          <a:bodyPr vert="horz" wrap="square" lIns="0" tIns="0" rIns="0" bIns="0" rtlCol="0" anchor="t">
            <a:noAutofit/>
          </a:bodyPr>
          <a:lstStyle/>
          <a:p>
            <a:r>
              <a:rPr lang="en-US" sz="1600" i="1">
                <a:solidFill>
                  <a:srgbClr val="4A5875"/>
                </a:solidFill>
                <a:latin typeface="Calibri" panose="020F0502020204030204" pitchFamily="34" charset="0"/>
              </a:rPr>
              <a:t>Example: "Help me organize tomorrow."</a:t>
            </a:r>
          </a:p>
        </p:txBody>
      </p:sp>
      <p:sp>
        <p:nvSpPr>
          <p:cNvPr id="6" name="Elipse 5">
            <a:extLst>
              <a:ext uri="{FF2B5EF4-FFF2-40B4-BE49-F238E27FC236}">
                <a16:creationId xmlns:a16="http://schemas.microsoft.com/office/drawing/2014/main" id="{CFB411AB-2654-95F4-A276-93D81E6E9BF0}"/>
              </a:ext>
            </a:extLst>
          </p:cNvPr>
          <p:cNvSpPr/>
          <p:nvPr/>
        </p:nvSpPr>
        <p:spPr>
          <a:xfrm>
            <a:off x="609600" y="2413000"/>
            <a:ext cx="685800" cy="685800"/>
          </a:xfrm>
          <a:prstGeom prst="ellipse">
            <a:avLst/>
          </a:prstGeom>
          <a:solidFill>
            <a:srgbClr val="5BE7F5"/>
          </a:solidFill>
          <a:ln w="0" cap="flat" cmpd="sng" algn="ctr">
            <a:solidFill>
              <a:srgbClr val="5BE7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ixaDeTexto 6">
            <a:extLst>
              <a:ext uri="{FF2B5EF4-FFF2-40B4-BE49-F238E27FC236}">
                <a16:creationId xmlns:a16="http://schemas.microsoft.com/office/drawing/2014/main" id="{86B3308A-E594-BFA0-BF6D-F134147CA51C}"/>
              </a:ext>
            </a:extLst>
          </p:cNvPr>
          <p:cNvSpPr txBox="1"/>
          <p:nvPr/>
        </p:nvSpPr>
        <p:spPr>
          <a:xfrm>
            <a:off x="609600" y="2413000"/>
            <a:ext cx="685800" cy="276999"/>
          </a:xfrm>
          <a:prstGeom prst="rect">
            <a:avLst/>
          </a:prstGeom>
          <a:noFill/>
        </p:spPr>
        <p:txBody>
          <a:bodyPr vert="horz" wrap="square" lIns="0" tIns="0" rIns="0" bIns="0" rtlCol="0" anchor="ctr">
            <a:noAutofit/>
          </a:bodyPr>
          <a:lstStyle/>
          <a:p>
            <a:pPr algn="ctr"/>
            <a:r>
              <a:rPr lang="en-US" sz="2000" b="1">
                <a:solidFill>
                  <a:srgbClr val="07101F"/>
                </a:solidFill>
                <a:latin typeface="Cambria" panose="02040503050406030204" pitchFamily="18" charset="0"/>
              </a:rPr>
              <a:t>1</a:t>
            </a:r>
          </a:p>
        </p:txBody>
      </p:sp>
      <p:sp>
        <p:nvSpPr>
          <p:cNvPr id="8" name="CaixaDeTexto 7">
            <a:extLst>
              <a:ext uri="{FF2B5EF4-FFF2-40B4-BE49-F238E27FC236}">
                <a16:creationId xmlns:a16="http://schemas.microsoft.com/office/drawing/2014/main" id="{72040B4C-87C7-15EC-6703-594797E1ABE6}"/>
              </a:ext>
            </a:extLst>
          </p:cNvPr>
          <p:cNvSpPr txBox="1"/>
          <p:nvPr/>
        </p:nvSpPr>
        <p:spPr>
          <a:xfrm>
            <a:off x="457200" y="3352800"/>
            <a:ext cx="1498600" cy="276999"/>
          </a:xfrm>
          <a:prstGeom prst="rect">
            <a:avLst/>
          </a:prstGeom>
          <a:noFill/>
        </p:spPr>
        <p:txBody>
          <a:bodyPr vert="horz" wrap="square" lIns="0" tIns="0" rIns="0" bIns="0" rtlCol="0" anchor="ctr">
            <a:noAutofit/>
          </a:bodyPr>
          <a:lstStyle/>
          <a:p>
            <a:pPr algn="ctr"/>
            <a:r>
              <a:rPr lang="en-US" sz="1100" b="1">
                <a:solidFill>
                  <a:srgbClr val="16213A"/>
                </a:solidFill>
                <a:latin typeface="Calibri" panose="020F0502020204030204" pitchFamily="34" charset="0"/>
              </a:rPr>
              <a:t>UNDERSTAND</a:t>
            </a:r>
          </a:p>
        </p:txBody>
      </p:sp>
      <p:sp>
        <p:nvSpPr>
          <p:cNvPr id="9" name="CaixaDeTexto 8">
            <a:extLst>
              <a:ext uri="{FF2B5EF4-FFF2-40B4-BE49-F238E27FC236}">
                <a16:creationId xmlns:a16="http://schemas.microsoft.com/office/drawing/2014/main" id="{DF331CB5-C463-281F-7F70-F1AA62181198}"/>
              </a:ext>
            </a:extLst>
          </p:cNvPr>
          <p:cNvSpPr txBox="1"/>
          <p:nvPr/>
        </p:nvSpPr>
        <p:spPr>
          <a:xfrm>
            <a:off x="355600" y="3695700"/>
            <a:ext cx="1701800" cy="276999"/>
          </a:xfrm>
          <a:prstGeom prst="rect">
            <a:avLst/>
          </a:prstGeom>
          <a:noFill/>
        </p:spPr>
        <p:txBody>
          <a:bodyPr vert="horz" wrap="square" lIns="0" tIns="0" rIns="0" bIns="0" rtlCol="0" anchor="t">
            <a:noAutofit/>
          </a:bodyPr>
          <a:lstStyle/>
          <a:p>
            <a:pPr algn="ctr"/>
            <a:r>
              <a:rPr lang="en-US" sz="1000">
                <a:solidFill>
                  <a:srgbClr val="69758E"/>
                </a:solidFill>
                <a:latin typeface="Calibri" panose="020F0502020204030204" pitchFamily="34" charset="0"/>
              </a:rPr>
              <a:t>Interprets the request</a:t>
            </a:r>
          </a:p>
        </p:txBody>
      </p:sp>
      <p:sp>
        <p:nvSpPr>
          <p:cNvPr id="10" name="Elipse 9">
            <a:extLst>
              <a:ext uri="{FF2B5EF4-FFF2-40B4-BE49-F238E27FC236}">
                <a16:creationId xmlns:a16="http://schemas.microsoft.com/office/drawing/2014/main" id="{1082B5BB-A5C4-F027-C6D2-EB294E35A4FE}"/>
              </a:ext>
            </a:extLst>
          </p:cNvPr>
          <p:cNvSpPr/>
          <p:nvPr/>
        </p:nvSpPr>
        <p:spPr>
          <a:xfrm>
            <a:off x="2870200" y="2413000"/>
            <a:ext cx="685800" cy="685800"/>
          </a:xfrm>
          <a:prstGeom prst="ellipse">
            <a:avLst/>
          </a:prstGeom>
          <a:solidFill>
            <a:srgbClr val="9879FF"/>
          </a:solidFill>
          <a:ln w="0" cap="flat" cmpd="sng" algn="ctr">
            <a:solidFill>
              <a:srgbClr val="9879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ixaDeTexto 10">
            <a:extLst>
              <a:ext uri="{FF2B5EF4-FFF2-40B4-BE49-F238E27FC236}">
                <a16:creationId xmlns:a16="http://schemas.microsoft.com/office/drawing/2014/main" id="{9CB502B5-BB18-EB1E-35D6-DE2BFB369A66}"/>
              </a:ext>
            </a:extLst>
          </p:cNvPr>
          <p:cNvSpPr txBox="1"/>
          <p:nvPr/>
        </p:nvSpPr>
        <p:spPr>
          <a:xfrm>
            <a:off x="2870200" y="2413000"/>
            <a:ext cx="685800" cy="276999"/>
          </a:xfrm>
          <a:prstGeom prst="rect">
            <a:avLst/>
          </a:prstGeom>
          <a:noFill/>
        </p:spPr>
        <p:txBody>
          <a:bodyPr vert="horz" wrap="square" lIns="0" tIns="0" rIns="0" bIns="0" rtlCol="0" anchor="ctr">
            <a:noAutofit/>
          </a:bodyPr>
          <a:lstStyle/>
          <a:p>
            <a:pPr algn="ctr"/>
            <a:r>
              <a:rPr lang="en-US" sz="2000" b="1">
                <a:solidFill>
                  <a:srgbClr val="07101F"/>
                </a:solidFill>
                <a:latin typeface="Cambria" panose="02040503050406030204" pitchFamily="18" charset="0"/>
              </a:rPr>
              <a:t>2</a:t>
            </a:r>
          </a:p>
        </p:txBody>
      </p:sp>
      <p:sp>
        <p:nvSpPr>
          <p:cNvPr id="12" name="CaixaDeTexto 11">
            <a:extLst>
              <a:ext uri="{FF2B5EF4-FFF2-40B4-BE49-F238E27FC236}">
                <a16:creationId xmlns:a16="http://schemas.microsoft.com/office/drawing/2014/main" id="{4B090314-E431-8683-4AE7-A5AE45492F57}"/>
              </a:ext>
            </a:extLst>
          </p:cNvPr>
          <p:cNvSpPr txBox="1"/>
          <p:nvPr/>
        </p:nvSpPr>
        <p:spPr>
          <a:xfrm>
            <a:off x="2717800" y="3352800"/>
            <a:ext cx="1498600" cy="276999"/>
          </a:xfrm>
          <a:prstGeom prst="rect">
            <a:avLst/>
          </a:prstGeom>
          <a:noFill/>
        </p:spPr>
        <p:txBody>
          <a:bodyPr vert="horz" wrap="square" lIns="0" tIns="0" rIns="0" bIns="0" rtlCol="0" anchor="ctr">
            <a:noAutofit/>
          </a:bodyPr>
          <a:lstStyle/>
          <a:p>
            <a:pPr algn="ctr"/>
            <a:r>
              <a:rPr lang="en-US" sz="1100" b="1">
                <a:solidFill>
                  <a:srgbClr val="16213A"/>
                </a:solidFill>
                <a:latin typeface="Calibri" panose="020F0502020204030204" pitchFamily="34" charset="0"/>
              </a:rPr>
              <a:t>DELEGATE</a:t>
            </a:r>
          </a:p>
        </p:txBody>
      </p:sp>
      <p:sp>
        <p:nvSpPr>
          <p:cNvPr id="13" name="CaixaDeTexto 12">
            <a:extLst>
              <a:ext uri="{FF2B5EF4-FFF2-40B4-BE49-F238E27FC236}">
                <a16:creationId xmlns:a16="http://schemas.microsoft.com/office/drawing/2014/main" id="{67407F07-F443-A581-C27B-F036805FDA9A}"/>
              </a:ext>
            </a:extLst>
          </p:cNvPr>
          <p:cNvSpPr txBox="1"/>
          <p:nvPr/>
        </p:nvSpPr>
        <p:spPr>
          <a:xfrm>
            <a:off x="2616200" y="3695700"/>
            <a:ext cx="1701800" cy="276999"/>
          </a:xfrm>
          <a:prstGeom prst="rect">
            <a:avLst/>
          </a:prstGeom>
          <a:noFill/>
        </p:spPr>
        <p:txBody>
          <a:bodyPr vert="horz" wrap="square" lIns="0" tIns="0" rIns="0" bIns="0" rtlCol="0" anchor="t">
            <a:noAutofit/>
          </a:bodyPr>
          <a:lstStyle/>
          <a:p>
            <a:pPr algn="ctr"/>
            <a:r>
              <a:rPr lang="en-US" sz="1000">
                <a:solidFill>
                  <a:srgbClr val="69758E"/>
                </a:solidFill>
                <a:latin typeface="Calibri" panose="020F0502020204030204" pitchFamily="34" charset="0"/>
              </a:rPr>
              <a:t>Activates the clones</a:t>
            </a:r>
          </a:p>
        </p:txBody>
      </p:sp>
      <p:sp>
        <p:nvSpPr>
          <p:cNvPr id="14" name="Elipse 13">
            <a:extLst>
              <a:ext uri="{FF2B5EF4-FFF2-40B4-BE49-F238E27FC236}">
                <a16:creationId xmlns:a16="http://schemas.microsoft.com/office/drawing/2014/main" id="{AAD28F4E-3460-BECD-16EF-2CC5C5DC859A}"/>
              </a:ext>
            </a:extLst>
          </p:cNvPr>
          <p:cNvSpPr/>
          <p:nvPr/>
        </p:nvSpPr>
        <p:spPr>
          <a:xfrm>
            <a:off x="5130800" y="2413000"/>
            <a:ext cx="685800" cy="685800"/>
          </a:xfrm>
          <a:prstGeom prst="ellipse">
            <a:avLst/>
          </a:prstGeom>
          <a:solidFill>
            <a:srgbClr val="5AA7FF"/>
          </a:solidFill>
          <a:ln w="0" cap="flat" cmpd="sng" algn="ctr">
            <a:solidFill>
              <a:srgbClr val="5AA7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aixaDeTexto 14">
            <a:extLst>
              <a:ext uri="{FF2B5EF4-FFF2-40B4-BE49-F238E27FC236}">
                <a16:creationId xmlns:a16="http://schemas.microsoft.com/office/drawing/2014/main" id="{005E629A-AC05-1B0B-51B3-EA30FE70A035}"/>
              </a:ext>
            </a:extLst>
          </p:cNvPr>
          <p:cNvSpPr txBox="1"/>
          <p:nvPr/>
        </p:nvSpPr>
        <p:spPr>
          <a:xfrm>
            <a:off x="5130800" y="2413000"/>
            <a:ext cx="685800" cy="276999"/>
          </a:xfrm>
          <a:prstGeom prst="rect">
            <a:avLst/>
          </a:prstGeom>
          <a:noFill/>
        </p:spPr>
        <p:txBody>
          <a:bodyPr vert="horz" wrap="square" lIns="0" tIns="0" rIns="0" bIns="0" rtlCol="0" anchor="ctr">
            <a:noAutofit/>
          </a:bodyPr>
          <a:lstStyle/>
          <a:p>
            <a:pPr algn="ctr"/>
            <a:r>
              <a:rPr lang="en-US" sz="2000" b="1">
                <a:solidFill>
                  <a:srgbClr val="07101F"/>
                </a:solidFill>
                <a:latin typeface="Cambria" panose="02040503050406030204" pitchFamily="18" charset="0"/>
              </a:rPr>
              <a:t>3</a:t>
            </a:r>
          </a:p>
        </p:txBody>
      </p:sp>
      <p:sp>
        <p:nvSpPr>
          <p:cNvPr id="16" name="CaixaDeTexto 15">
            <a:extLst>
              <a:ext uri="{FF2B5EF4-FFF2-40B4-BE49-F238E27FC236}">
                <a16:creationId xmlns:a16="http://schemas.microsoft.com/office/drawing/2014/main" id="{D042B040-2B50-BFAD-C200-98B35D143003}"/>
              </a:ext>
            </a:extLst>
          </p:cNvPr>
          <p:cNvSpPr txBox="1"/>
          <p:nvPr/>
        </p:nvSpPr>
        <p:spPr>
          <a:xfrm>
            <a:off x="4978400" y="3352800"/>
            <a:ext cx="1498600" cy="276999"/>
          </a:xfrm>
          <a:prstGeom prst="rect">
            <a:avLst/>
          </a:prstGeom>
          <a:noFill/>
        </p:spPr>
        <p:txBody>
          <a:bodyPr vert="horz" wrap="square" lIns="0" tIns="0" rIns="0" bIns="0" rtlCol="0" anchor="ctr">
            <a:noAutofit/>
          </a:bodyPr>
          <a:lstStyle/>
          <a:p>
            <a:pPr algn="ctr"/>
            <a:r>
              <a:rPr lang="en-US" sz="1100" b="1">
                <a:solidFill>
                  <a:srgbClr val="16213A"/>
                </a:solidFill>
                <a:latin typeface="Calibri" panose="020F0502020204030204" pitchFamily="34" charset="0"/>
              </a:rPr>
              <a:t>ADD CONTEXT</a:t>
            </a:r>
          </a:p>
        </p:txBody>
      </p:sp>
      <p:sp>
        <p:nvSpPr>
          <p:cNvPr id="17" name="CaixaDeTexto 16">
            <a:extLst>
              <a:ext uri="{FF2B5EF4-FFF2-40B4-BE49-F238E27FC236}">
                <a16:creationId xmlns:a16="http://schemas.microsoft.com/office/drawing/2014/main" id="{43325AD2-8BC9-63C6-F05F-99865140D5CD}"/>
              </a:ext>
            </a:extLst>
          </p:cNvPr>
          <p:cNvSpPr txBox="1"/>
          <p:nvPr/>
        </p:nvSpPr>
        <p:spPr>
          <a:xfrm>
            <a:off x="4876800" y="3695700"/>
            <a:ext cx="1701800" cy="276999"/>
          </a:xfrm>
          <a:prstGeom prst="rect">
            <a:avLst/>
          </a:prstGeom>
          <a:noFill/>
        </p:spPr>
        <p:txBody>
          <a:bodyPr vert="horz" wrap="square" lIns="0" tIns="0" rIns="0" bIns="0" rtlCol="0" anchor="t">
            <a:noAutofit/>
          </a:bodyPr>
          <a:lstStyle/>
          <a:p>
            <a:pPr algn="ctr"/>
            <a:r>
              <a:rPr lang="en-US" sz="1000">
                <a:solidFill>
                  <a:srgbClr val="69758E"/>
                </a:solidFill>
                <a:latin typeface="Calibri" panose="020F0502020204030204" pitchFamily="34" charset="0"/>
              </a:rPr>
              <a:t>Reads schedule and data</a:t>
            </a:r>
          </a:p>
        </p:txBody>
      </p:sp>
      <p:sp>
        <p:nvSpPr>
          <p:cNvPr id="18" name="Elipse 17">
            <a:extLst>
              <a:ext uri="{FF2B5EF4-FFF2-40B4-BE49-F238E27FC236}">
                <a16:creationId xmlns:a16="http://schemas.microsoft.com/office/drawing/2014/main" id="{39F4D982-912D-5C6E-45D1-17FE256B79DC}"/>
              </a:ext>
            </a:extLst>
          </p:cNvPr>
          <p:cNvSpPr/>
          <p:nvPr/>
        </p:nvSpPr>
        <p:spPr>
          <a:xfrm>
            <a:off x="7391400" y="2413000"/>
            <a:ext cx="685800" cy="685800"/>
          </a:xfrm>
          <a:prstGeom prst="ellipse">
            <a:avLst/>
          </a:prstGeom>
          <a:solidFill>
            <a:srgbClr val="42D4C7"/>
          </a:solidFill>
          <a:ln w="0" cap="flat" cmpd="sng" algn="ctr">
            <a:solidFill>
              <a:srgbClr val="42D4C7">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aixaDeTexto 18">
            <a:extLst>
              <a:ext uri="{FF2B5EF4-FFF2-40B4-BE49-F238E27FC236}">
                <a16:creationId xmlns:a16="http://schemas.microsoft.com/office/drawing/2014/main" id="{8991CE93-ABE7-FBD4-0427-CA7B975A253C}"/>
              </a:ext>
            </a:extLst>
          </p:cNvPr>
          <p:cNvSpPr txBox="1"/>
          <p:nvPr/>
        </p:nvSpPr>
        <p:spPr>
          <a:xfrm>
            <a:off x="7391400" y="2413000"/>
            <a:ext cx="685800" cy="276999"/>
          </a:xfrm>
          <a:prstGeom prst="rect">
            <a:avLst/>
          </a:prstGeom>
          <a:noFill/>
        </p:spPr>
        <p:txBody>
          <a:bodyPr vert="horz" wrap="square" lIns="0" tIns="0" rIns="0" bIns="0" rtlCol="0" anchor="ctr">
            <a:noAutofit/>
          </a:bodyPr>
          <a:lstStyle/>
          <a:p>
            <a:pPr algn="ctr"/>
            <a:r>
              <a:rPr lang="en-US" sz="2000" b="1">
                <a:solidFill>
                  <a:srgbClr val="07101F"/>
                </a:solidFill>
                <a:latin typeface="Cambria" panose="02040503050406030204" pitchFamily="18" charset="0"/>
              </a:rPr>
              <a:t>4</a:t>
            </a:r>
          </a:p>
        </p:txBody>
      </p:sp>
      <p:sp>
        <p:nvSpPr>
          <p:cNvPr id="20" name="CaixaDeTexto 19">
            <a:extLst>
              <a:ext uri="{FF2B5EF4-FFF2-40B4-BE49-F238E27FC236}">
                <a16:creationId xmlns:a16="http://schemas.microsoft.com/office/drawing/2014/main" id="{04EBD9EB-728C-E1BF-224E-AD15101CD52A}"/>
              </a:ext>
            </a:extLst>
          </p:cNvPr>
          <p:cNvSpPr txBox="1"/>
          <p:nvPr/>
        </p:nvSpPr>
        <p:spPr>
          <a:xfrm>
            <a:off x="7239000" y="3352800"/>
            <a:ext cx="1498600" cy="276999"/>
          </a:xfrm>
          <a:prstGeom prst="rect">
            <a:avLst/>
          </a:prstGeom>
          <a:noFill/>
        </p:spPr>
        <p:txBody>
          <a:bodyPr vert="horz" wrap="square" lIns="0" tIns="0" rIns="0" bIns="0" rtlCol="0" anchor="ctr">
            <a:noAutofit/>
          </a:bodyPr>
          <a:lstStyle/>
          <a:p>
            <a:pPr algn="ctr"/>
            <a:r>
              <a:rPr lang="en-US" sz="1100" b="1">
                <a:solidFill>
                  <a:srgbClr val="16213A"/>
                </a:solidFill>
                <a:latin typeface="Calibri" panose="020F0502020204030204" pitchFamily="34" charset="0"/>
              </a:rPr>
              <a:t>APPROVE</a:t>
            </a:r>
          </a:p>
        </p:txBody>
      </p:sp>
      <p:sp>
        <p:nvSpPr>
          <p:cNvPr id="21" name="CaixaDeTexto 20">
            <a:extLst>
              <a:ext uri="{FF2B5EF4-FFF2-40B4-BE49-F238E27FC236}">
                <a16:creationId xmlns:a16="http://schemas.microsoft.com/office/drawing/2014/main" id="{85A6E811-4633-D650-EBB7-35DD24EEE5F9}"/>
              </a:ext>
            </a:extLst>
          </p:cNvPr>
          <p:cNvSpPr txBox="1"/>
          <p:nvPr/>
        </p:nvSpPr>
        <p:spPr>
          <a:xfrm>
            <a:off x="7137400" y="3695700"/>
            <a:ext cx="1701800" cy="276999"/>
          </a:xfrm>
          <a:prstGeom prst="rect">
            <a:avLst/>
          </a:prstGeom>
          <a:noFill/>
        </p:spPr>
        <p:txBody>
          <a:bodyPr vert="horz" wrap="square" lIns="0" tIns="0" rIns="0" bIns="0" rtlCol="0" anchor="t">
            <a:noAutofit/>
          </a:bodyPr>
          <a:lstStyle/>
          <a:p>
            <a:pPr algn="ctr"/>
            <a:r>
              <a:rPr lang="en-US" sz="1000">
                <a:solidFill>
                  <a:srgbClr val="69758E"/>
                </a:solidFill>
                <a:latin typeface="Calibri" panose="020F0502020204030204" pitchFamily="34" charset="0"/>
              </a:rPr>
              <a:t>Shows the proposed change</a:t>
            </a:r>
          </a:p>
        </p:txBody>
      </p:sp>
      <p:sp>
        <p:nvSpPr>
          <p:cNvPr id="22" name="Elipse 21">
            <a:extLst>
              <a:ext uri="{FF2B5EF4-FFF2-40B4-BE49-F238E27FC236}">
                <a16:creationId xmlns:a16="http://schemas.microsoft.com/office/drawing/2014/main" id="{D893FE37-832E-6720-9865-B3F14AD598AB}"/>
              </a:ext>
            </a:extLst>
          </p:cNvPr>
          <p:cNvSpPr/>
          <p:nvPr/>
        </p:nvSpPr>
        <p:spPr>
          <a:xfrm>
            <a:off x="9652000" y="2413000"/>
            <a:ext cx="685800" cy="685800"/>
          </a:xfrm>
          <a:prstGeom prst="ellipse">
            <a:avLst/>
          </a:prstGeom>
          <a:solidFill>
            <a:srgbClr val="B9F36B"/>
          </a:solidFill>
          <a:ln w="0" cap="flat" cmpd="sng" algn="ctr">
            <a:solidFill>
              <a:srgbClr val="B9F36B">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ixaDeTexto 22">
            <a:extLst>
              <a:ext uri="{FF2B5EF4-FFF2-40B4-BE49-F238E27FC236}">
                <a16:creationId xmlns:a16="http://schemas.microsoft.com/office/drawing/2014/main" id="{3963DAC4-7733-BFCE-D69F-5B3E975F7C50}"/>
              </a:ext>
            </a:extLst>
          </p:cNvPr>
          <p:cNvSpPr txBox="1"/>
          <p:nvPr/>
        </p:nvSpPr>
        <p:spPr>
          <a:xfrm>
            <a:off x="9652000" y="2413000"/>
            <a:ext cx="685800" cy="276999"/>
          </a:xfrm>
          <a:prstGeom prst="rect">
            <a:avLst/>
          </a:prstGeom>
          <a:noFill/>
        </p:spPr>
        <p:txBody>
          <a:bodyPr vert="horz" wrap="square" lIns="0" tIns="0" rIns="0" bIns="0" rtlCol="0" anchor="ctr">
            <a:noAutofit/>
          </a:bodyPr>
          <a:lstStyle/>
          <a:p>
            <a:pPr algn="ctr"/>
            <a:r>
              <a:rPr lang="en-US" sz="2000" b="1">
                <a:solidFill>
                  <a:srgbClr val="07101F"/>
                </a:solidFill>
                <a:latin typeface="Cambria" panose="02040503050406030204" pitchFamily="18" charset="0"/>
              </a:rPr>
              <a:t>5</a:t>
            </a:r>
          </a:p>
        </p:txBody>
      </p:sp>
      <p:sp>
        <p:nvSpPr>
          <p:cNvPr id="24" name="CaixaDeTexto 23">
            <a:extLst>
              <a:ext uri="{FF2B5EF4-FFF2-40B4-BE49-F238E27FC236}">
                <a16:creationId xmlns:a16="http://schemas.microsoft.com/office/drawing/2014/main" id="{DC229622-12EA-D0D5-4008-CD4728A48075}"/>
              </a:ext>
            </a:extLst>
          </p:cNvPr>
          <p:cNvSpPr txBox="1"/>
          <p:nvPr/>
        </p:nvSpPr>
        <p:spPr>
          <a:xfrm>
            <a:off x="9499600" y="3352800"/>
            <a:ext cx="1498600" cy="276999"/>
          </a:xfrm>
          <a:prstGeom prst="rect">
            <a:avLst/>
          </a:prstGeom>
          <a:noFill/>
        </p:spPr>
        <p:txBody>
          <a:bodyPr vert="horz" wrap="square" lIns="0" tIns="0" rIns="0" bIns="0" rtlCol="0" anchor="ctr">
            <a:noAutofit/>
          </a:bodyPr>
          <a:lstStyle/>
          <a:p>
            <a:pPr algn="ctr"/>
            <a:r>
              <a:rPr lang="en-US" sz="1100" b="1">
                <a:solidFill>
                  <a:srgbClr val="16213A"/>
                </a:solidFill>
                <a:latin typeface="Calibri" panose="020F0502020204030204" pitchFamily="34" charset="0"/>
              </a:rPr>
              <a:t>EXECUTE</a:t>
            </a:r>
          </a:p>
        </p:txBody>
      </p:sp>
      <p:sp>
        <p:nvSpPr>
          <p:cNvPr id="25" name="CaixaDeTexto 24">
            <a:extLst>
              <a:ext uri="{FF2B5EF4-FFF2-40B4-BE49-F238E27FC236}">
                <a16:creationId xmlns:a16="http://schemas.microsoft.com/office/drawing/2014/main" id="{15901F15-7313-52CE-32BA-B2DBB65B230B}"/>
              </a:ext>
            </a:extLst>
          </p:cNvPr>
          <p:cNvSpPr txBox="1"/>
          <p:nvPr/>
        </p:nvSpPr>
        <p:spPr>
          <a:xfrm>
            <a:off x="9398000" y="3695700"/>
            <a:ext cx="1701800" cy="276999"/>
          </a:xfrm>
          <a:prstGeom prst="rect">
            <a:avLst/>
          </a:prstGeom>
          <a:noFill/>
        </p:spPr>
        <p:txBody>
          <a:bodyPr vert="horz" wrap="square" lIns="0" tIns="0" rIns="0" bIns="0" rtlCol="0" anchor="t">
            <a:noAutofit/>
          </a:bodyPr>
          <a:lstStyle/>
          <a:p>
            <a:pPr algn="ctr"/>
            <a:r>
              <a:rPr lang="en-US" sz="1000">
                <a:solidFill>
                  <a:srgbClr val="69758E"/>
                </a:solidFill>
                <a:latin typeface="Calibri" panose="020F0502020204030204" pitchFamily="34" charset="0"/>
              </a:rPr>
              <a:t>Acts and records</a:t>
            </a:r>
          </a:p>
        </p:txBody>
      </p:sp>
      <p:cxnSp>
        <p:nvCxnSpPr>
          <p:cNvPr id="26" name="Conector reto 25">
            <a:extLst>
              <a:ext uri="{FF2B5EF4-FFF2-40B4-BE49-F238E27FC236}">
                <a16:creationId xmlns:a16="http://schemas.microsoft.com/office/drawing/2014/main" id="{67981C61-4F54-3534-BD96-6EA8F3EC07BE}"/>
              </a:ext>
            </a:extLst>
          </p:cNvPr>
          <p:cNvCxnSpPr/>
          <p:nvPr/>
        </p:nvCxnSpPr>
        <p:spPr>
          <a:xfrm>
            <a:off x="1397000" y="2755900"/>
            <a:ext cx="1358900" cy="0"/>
          </a:xfrm>
          <a:prstGeom prst="line">
            <a:avLst/>
          </a:prstGeom>
          <a:ln w="21590" cap="flat" cmpd="sng" algn="ctr">
            <a:solidFill>
              <a:srgbClr val="A5B1C9">
                <a:alpha val="90000"/>
              </a:srgbClr>
            </a:solidFill>
            <a:prstDash val="solid"/>
            <a:miter lim="80000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Conector reto 26">
            <a:extLst>
              <a:ext uri="{FF2B5EF4-FFF2-40B4-BE49-F238E27FC236}">
                <a16:creationId xmlns:a16="http://schemas.microsoft.com/office/drawing/2014/main" id="{702BA744-ED01-63E7-ED90-660C76EEA28D}"/>
              </a:ext>
            </a:extLst>
          </p:cNvPr>
          <p:cNvCxnSpPr/>
          <p:nvPr/>
        </p:nvCxnSpPr>
        <p:spPr>
          <a:xfrm>
            <a:off x="3657600" y="2755900"/>
            <a:ext cx="1358900" cy="0"/>
          </a:xfrm>
          <a:prstGeom prst="line">
            <a:avLst/>
          </a:prstGeom>
          <a:ln w="21590" cap="flat" cmpd="sng" algn="ctr">
            <a:solidFill>
              <a:srgbClr val="A5B1C9">
                <a:alpha val="90000"/>
              </a:srgbClr>
            </a:solidFill>
            <a:prstDash val="solid"/>
            <a:miter lim="80000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Conector reto 27">
            <a:extLst>
              <a:ext uri="{FF2B5EF4-FFF2-40B4-BE49-F238E27FC236}">
                <a16:creationId xmlns:a16="http://schemas.microsoft.com/office/drawing/2014/main" id="{B53B642F-31D9-A1E6-3BC8-476B7B539971}"/>
              </a:ext>
            </a:extLst>
          </p:cNvPr>
          <p:cNvCxnSpPr/>
          <p:nvPr/>
        </p:nvCxnSpPr>
        <p:spPr>
          <a:xfrm>
            <a:off x="5918200" y="2755900"/>
            <a:ext cx="1358900" cy="0"/>
          </a:xfrm>
          <a:prstGeom prst="line">
            <a:avLst/>
          </a:prstGeom>
          <a:ln w="21590" cap="flat" cmpd="sng" algn="ctr">
            <a:solidFill>
              <a:srgbClr val="A5B1C9">
                <a:alpha val="90000"/>
              </a:srgbClr>
            </a:solidFill>
            <a:prstDash val="solid"/>
            <a:miter lim="800000"/>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9" name="Conector reto 28">
            <a:extLst>
              <a:ext uri="{FF2B5EF4-FFF2-40B4-BE49-F238E27FC236}">
                <a16:creationId xmlns:a16="http://schemas.microsoft.com/office/drawing/2014/main" id="{549F4058-B906-93C2-67C8-CCA7BB9FDB1E}"/>
              </a:ext>
            </a:extLst>
          </p:cNvPr>
          <p:cNvCxnSpPr/>
          <p:nvPr/>
        </p:nvCxnSpPr>
        <p:spPr>
          <a:xfrm>
            <a:off x="8178800" y="2755900"/>
            <a:ext cx="1358900" cy="0"/>
          </a:xfrm>
          <a:prstGeom prst="line">
            <a:avLst/>
          </a:prstGeom>
          <a:ln w="21590" cap="flat" cmpd="sng" algn="ctr">
            <a:solidFill>
              <a:srgbClr val="A5B1C9">
                <a:alpha val="90000"/>
              </a:srgbClr>
            </a:solidFill>
            <a:prstDash val="solid"/>
            <a:miter lim="800000"/>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0" name="Retângulo: Cantos Arredondados 29">
            <a:extLst>
              <a:ext uri="{FF2B5EF4-FFF2-40B4-BE49-F238E27FC236}">
                <a16:creationId xmlns:a16="http://schemas.microsoft.com/office/drawing/2014/main" id="{FF3C2B0A-EB4E-298F-911C-7B48EFFDDA2D}"/>
              </a:ext>
            </a:extLst>
          </p:cNvPr>
          <p:cNvSpPr/>
          <p:nvPr/>
        </p:nvSpPr>
        <p:spPr>
          <a:xfrm>
            <a:off x="2006600" y="4749800"/>
            <a:ext cx="8178800" cy="1066800"/>
          </a:xfrm>
          <a:prstGeom prst="roundRect">
            <a:avLst/>
          </a:prstGeom>
          <a:solidFill>
            <a:srgbClr val="101A34"/>
          </a:solidFill>
          <a:ln w="12700" cap="flat" cmpd="sng" algn="ctr">
            <a:solidFill>
              <a:srgbClr val="5BE7F5">
                <a:alpha val="28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aixaDeTexto 30">
            <a:extLst>
              <a:ext uri="{FF2B5EF4-FFF2-40B4-BE49-F238E27FC236}">
                <a16:creationId xmlns:a16="http://schemas.microsoft.com/office/drawing/2014/main" id="{AC053B23-FAD8-F5F1-8A14-575E75F768EC}"/>
              </a:ext>
            </a:extLst>
          </p:cNvPr>
          <p:cNvSpPr txBox="1"/>
          <p:nvPr/>
        </p:nvSpPr>
        <p:spPr>
          <a:xfrm>
            <a:off x="2336800" y="4940300"/>
            <a:ext cx="2413000" cy="276999"/>
          </a:xfrm>
          <a:prstGeom prst="rect">
            <a:avLst/>
          </a:prstGeom>
          <a:noFill/>
        </p:spPr>
        <p:txBody>
          <a:bodyPr vert="horz" wrap="square" lIns="0" tIns="0" rIns="0" bIns="0" rtlCol="0" anchor="t">
            <a:noAutofit/>
          </a:bodyPr>
          <a:lstStyle/>
          <a:p>
            <a:r>
              <a:rPr lang="en-US" sz="1100" b="1">
                <a:solidFill>
                  <a:srgbClr val="5BE7F5"/>
                </a:solidFill>
                <a:latin typeface="Calibri" panose="020F0502020204030204" pitchFamily="34" charset="0"/>
              </a:rPr>
              <a:t>HUMAN CONTROL</a:t>
            </a:r>
          </a:p>
        </p:txBody>
      </p:sp>
      <p:sp>
        <p:nvSpPr>
          <p:cNvPr id="32" name="CaixaDeTexto 31">
            <a:extLst>
              <a:ext uri="{FF2B5EF4-FFF2-40B4-BE49-F238E27FC236}">
                <a16:creationId xmlns:a16="http://schemas.microsoft.com/office/drawing/2014/main" id="{C4B9337C-336D-2BA3-9F4C-A1B4ABBE6FC8}"/>
              </a:ext>
            </a:extLst>
          </p:cNvPr>
          <p:cNvSpPr txBox="1"/>
          <p:nvPr/>
        </p:nvSpPr>
        <p:spPr>
          <a:xfrm>
            <a:off x="2336800" y="5283200"/>
            <a:ext cx="7493000" cy="276999"/>
          </a:xfrm>
          <a:prstGeom prst="rect">
            <a:avLst/>
          </a:prstGeom>
          <a:noFill/>
        </p:spPr>
        <p:txBody>
          <a:bodyPr vert="horz" wrap="square" lIns="0" tIns="0" rIns="0" bIns="0" rtlCol="0" anchor="t">
            <a:noAutofit/>
          </a:bodyPr>
          <a:lstStyle/>
          <a:p>
            <a:r>
              <a:rPr lang="en-US" sz="1400">
                <a:solidFill>
                  <a:srgbClr val="F7FAFF"/>
                </a:solidFill>
                <a:latin typeface="Calibri" panose="020F0502020204030204" pitchFamily="34" charset="0"/>
              </a:rPr>
              <a:t>Reads may be automatic. Calendar changes and drafts follow permissions and approval.</a:t>
            </a:r>
          </a:p>
        </p:txBody>
      </p:sp>
      <p:sp>
        <p:nvSpPr>
          <p:cNvPr id="33" name="CaixaDeTexto 32">
            <a:extLst>
              <a:ext uri="{FF2B5EF4-FFF2-40B4-BE49-F238E27FC236}">
                <a16:creationId xmlns:a16="http://schemas.microsoft.com/office/drawing/2014/main" id="{D87B3ACF-8211-4E6C-AE75-3B3D65AD8FC6}"/>
              </a:ext>
            </a:extLst>
          </p:cNvPr>
          <p:cNvSpPr txBox="1"/>
          <p:nvPr/>
        </p:nvSpPr>
        <p:spPr>
          <a:xfrm>
            <a:off x="609600" y="6413500"/>
            <a:ext cx="8255000" cy="276999"/>
          </a:xfrm>
          <a:prstGeom prst="rect">
            <a:avLst/>
          </a:prstGeom>
          <a:noFill/>
        </p:spPr>
        <p:txBody>
          <a:bodyPr vert="horz" wrap="square" lIns="0" tIns="0" rIns="0" bIns="0" rtlCol="0" anchor="t">
            <a:noAutofit/>
          </a:bodyPr>
          <a:lstStyle/>
          <a:p>
            <a:r>
              <a:rPr lang="en-US" sz="900">
                <a:solidFill>
                  <a:srgbClr val="69738A"/>
                </a:solidFill>
                <a:latin typeface="Calibri" panose="020F0502020204030204" pitchFamily="34" charset="0"/>
              </a:rPr>
              <a:t>Every step produces progress, artifacts and an auditable history.</a:t>
            </a:r>
          </a:p>
        </p:txBody>
      </p:sp>
    </p:spTree>
    <p:extLst>
      <p:ext uri="{BB962C8B-B14F-4D97-AF65-F5344CB8AC3E}">
        <p14:creationId xmlns:p14="http://schemas.microsoft.com/office/powerpoint/2010/main" val="899578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816"/>
        </a:solid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7518F23E-348B-FBF9-BBC0-D9BD3592D84A}"/>
              </a:ext>
            </a:extLst>
          </p:cNvPr>
          <p:cNvSpPr txBox="1"/>
          <p:nvPr/>
        </p:nvSpPr>
        <p:spPr>
          <a:xfrm>
            <a:off x="609600" y="355600"/>
            <a:ext cx="5334000" cy="276999"/>
          </a:xfrm>
          <a:prstGeom prst="rect">
            <a:avLst/>
          </a:prstGeom>
          <a:noFill/>
        </p:spPr>
        <p:txBody>
          <a:bodyPr vert="horz" wrap="square" lIns="0" tIns="0" rIns="0" bIns="0" rtlCol="0" anchor="t">
            <a:noAutofit/>
          </a:bodyPr>
          <a:lstStyle/>
          <a:p>
            <a:r>
              <a:rPr lang="en-US" sz="1100" b="1">
                <a:solidFill>
                  <a:srgbClr val="5BE7F5"/>
                </a:solidFill>
                <a:latin typeface="Calibri" panose="020F0502020204030204" pitchFamily="34" charset="0"/>
              </a:rPr>
              <a:t>DIFFERENTIATORS + MVP</a:t>
            </a:r>
          </a:p>
        </p:txBody>
      </p:sp>
      <p:sp>
        <p:nvSpPr>
          <p:cNvPr id="3" name="CaixaDeTexto 2">
            <a:extLst>
              <a:ext uri="{FF2B5EF4-FFF2-40B4-BE49-F238E27FC236}">
                <a16:creationId xmlns:a16="http://schemas.microsoft.com/office/drawing/2014/main" id="{D9CEF702-3002-F852-4CB3-BD2C90BF5870}"/>
              </a:ext>
            </a:extLst>
          </p:cNvPr>
          <p:cNvSpPr txBox="1"/>
          <p:nvPr/>
        </p:nvSpPr>
        <p:spPr>
          <a:xfrm>
            <a:off x="609600" y="698500"/>
            <a:ext cx="9652000" cy="276999"/>
          </a:xfrm>
          <a:prstGeom prst="rect">
            <a:avLst/>
          </a:prstGeom>
          <a:noFill/>
        </p:spPr>
        <p:txBody>
          <a:bodyPr vert="horz" wrap="square" lIns="0" tIns="0" rIns="0" bIns="0" rtlCol="0" anchor="t">
            <a:noAutofit/>
          </a:bodyPr>
          <a:lstStyle/>
          <a:p>
            <a:r>
              <a:rPr lang="en-US" sz="3000" b="1">
                <a:solidFill>
                  <a:srgbClr val="F7FAFF"/>
                </a:solidFill>
                <a:latin typeface="Cambria" panose="02040503050406030204" pitchFamily="18" charset="0"/>
              </a:rPr>
              <a:t>Trust you can already demonstrate</a:t>
            </a:r>
          </a:p>
        </p:txBody>
      </p:sp>
      <p:sp>
        <p:nvSpPr>
          <p:cNvPr id="4" name="CaixaDeTexto 3">
            <a:extLst>
              <a:ext uri="{FF2B5EF4-FFF2-40B4-BE49-F238E27FC236}">
                <a16:creationId xmlns:a16="http://schemas.microsoft.com/office/drawing/2014/main" id="{FAB078E9-4487-1A17-A47E-81B8DC1A2714}"/>
              </a:ext>
            </a:extLst>
          </p:cNvPr>
          <p:cNvSpPr txBox="1"/>
          <p:nvPr/>
        </p:nvSpPr>
        <p:spPr>
          <a:xfrm>
            <a:off x="11049000" y="482600"/>
            <a:ext cx="533400" cy="276999"/>
          </a:xfrm>
          <a:prstGeom prst="rect">
            <a:avLst/>
          </a:prstGeom>
          <a:noFill/>
        </p:spPr>
        <p:txBody>
          <a:bodyPr vert="horz" wrap="square" lIns="0" tIns="0" rIns="0" bIns="0" rtlCol="0" anchor="ctr">
            <a:noAutofit/>
          </a:bodyPr>
          <a:lstStyle/>
          <a:p>
            <a:pPr algn="ctr"/>
            <a:r>
              <a:rPr lang="en-US" sz="1200" b="1">
                <a:solidFill>
                  <a:srgbClr val="8FA1C7"/>
                </a:solidFill>
                <a:latin typeface="Calibri" panose="020F0502020204030204" pitchFamily="34" charset="0"/>
              </a:rPr>
              <a:t>05</a:t>
            </a:r>
          </a:p>
        </p:txBody>
      </p:sp>
      <p:sp>
        <p:nvSpPr>
          <p:cNvPr id="5" name="CaixaDeTexto 4">
            <a:extLst>
              <a:ext uri="{FF2B5EF4-FFF2-40B4-BE49-F238E27FC236}">
                <a16:creationId xmlns:a16="http://schemas.microsoft.com/office/drawing/2014/main" id="{C4469C6E-B168-EBF5-92F4-09CD8CE86058}"/>
              </a:ext>
            </a:extLst>
          </p:cNvPr>
          <p:cNvSpPr txBox="1"/>
          <p:nvPr/>
        </p:nvSpPr>
        <p:spPr>
          <a:xfrm>
            <a:off x="609600" y="1422400"/>
            <a:ext cx="9906000" cy="276999"/>
          </a:xfrm>
          <a:prstGeom prst="rect">
            <a:avLst/>
          </a:prstGeom>
          <a:noFill/>
        </p:spPr>
        <p:txBody>
          <a:bodyPr vert="horz" wrap="square" lIns="0" tIns="0" rIns="0" bIns="0" rtlCol="0" anchor="t">
            <a:noAutofit/>
          </a:bodyPr>
          <a:lstStyle/>
          <a:p>
            <a:r>
              <a:rPr lang="en-US" sz="1500">
                <a:solidFill>
                  <a:srgbClr val="AAB8D2"/>
                </a:solidFill>
                <a:latin typeface="Calibri" panose="020F0502020204030204" pitchFamily="34" charset="0"/>
              </a:rPr>
              <a:t>The MVP runs without API keys and clearly separates simulated results from real actions.</a:t>
            </a:r>
          </a:p>
        </p:txBody>
      </p:sp>
      <p:sp>
        <p:nvSpPr>
          <p:cNvPr id="6" name="Retângulo: Cantos Arredondados 5">
            <a:extLst>
              <a:ext uri="{FF2B5EF4-FFF2-40B4-BE49-F238E27FC236}">
                <a16:creationId xmlns:a16="http://schemas.microsoft.com/office/drawing/2014/main" id="{6DC4E8FA-4800-B197-5FF9-4F477A37AFB5}"/>
              </a:ext>
            </a:extLst>
          </p:cNvPr>
          <p:cNvSpPr/>
          <p:nvPr/>
        </p:nvSpPr>
        <p:spPr>
          <a:xfrm>
            <a:off x="609600" y="2006600"/>
            <a:ext cx="3429000" cy="1574800"/>
          </a:xfrm>
          <a:prstGeom prst="roundRect">
            <a:avLst/>
          </a:prstGeom>
          <a:solidFill>
            <a:srgbClr val="111A35"/>
          </a:solidFill>
          <a:ln w="12700" cap="flat" cmpd="sng" algn="ctr">
            <a:solidFill>
              <a:srgbClr val="5BE7F5">
                <a:alpha val="28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lipse 6">
            <a:extLst>
              <a:ext uri="{FF2B5EF4-FFF2-40B4-BE49-F238E27FC236}">
                <a16:creationId xmlns:a16="http://schemas.microsoft.com/office/drawing/2014/main" id="{BA62F43F-A1E4-BBF7-058B-866D221C136F}"/>
              </a:ext>
            </a:extLst>
          </p:cNvPr>
          <p:cNvSpPr/>
          <p:nvPr/>
        </p:nvSpPr>
        <p:spPr>
          <a:xfrm>
            <a:off x="838200" y="2209800"/>
            <a:ext cx="381000" cy="381000"/>
          </a:xfrm>
          <a:prstGeom prst="ellipse">
            <a:avLst/>
          </a:prstGeom>
          <a:solidFill>
            <a:srgbClr val="5BE7F5">
              <a:alpha val="95000"/>
            </a:srgbClr>
          </a:solidFill>
          <a:ln w="0" cap="flat" cmpd="sng" algn="ctr">
            <a:solidFill>
              <a:srgbClr val="5BE7F5">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aixaDeTexto 7">
            <a:extLst>
              <a:ext uri="{FF2B5EF4-FFF2-40B4-BE49-F238E27FC236}">
                <a16:creationId xmlns:a16="http://schemas.microsoft.com/office/drawing/2014/main" id="{9F26F1FF-0328-0F5B-D95C-56D910180996}"/>
              </a:ext>
            </a:extLst>
          </p:cNvPr>
          <p:cNvSpPr txBox="1"/>
          <p:nvPr/>
        </p:nvSpPr>
        <p:spPr>
          <a:xfrm>
            <a:off x="838200" y="2209800"/>
            <a:ext cx="381000" cy="276999"/>
          </a:xfrm>
          <a:prstGeom prst="rect">
            <a:avLst/>
          </a:prstGeom>
          <a:noFill/>
        </p:spPr>
        <p:txBody>
          <a:bodyPr vert="horz" wrap="square" lIns="0" tIns="0" rIns="0" bIns="0" rtlCol="0" anchor="ctr">
            <a:noAutofit/>
          </a:bodyPr>
          <a:lstStyle/>
          <a:p>
            <a:pPr algn="ctr"/>
            <a:r>
              <a:rPr lang="en-US" sz="1000" b="1">
                <a:solidFill>
                  <a:srgbClr val="050816"/>
                </a:solidFill>
                <a:latin typeface="Calibri" panose="020F0502020204030204" pitchFamily="34" charset="0"/>
              </a:rPr>
              <a:t>01</a:t>
            </a:r>
          </a:p>
        </p:txBody>
      </p:sp>
      <p:sp>
        <p:nvSpPr>
          <p:cNvPr id="9" name="CaixaDeTexto 8">
            <a:extLst>
              <a:ext uri="{FF2B5EF4-FFF2-40B4-BE49-F238E27FC236}">
                <a16:creationId xmlns:a16="http://schemas.microsoft.com/office/drawing/2014/main" id="{312B5483-1FE0-5B7C-FCA5-129A32A387A8}"/>
              </a:ext>
            </a:extLst>
          </p:cNvPr>
          <p:cNvSpPr txBox="1"/>
          <p:nvPr/>
        </p:nvSpPr>
        <p:spPr>
          <a:xfrm>
            <a:off x="1371600" y="2209800"/>
            <a:ext cx="2463800" cy="276999"/>
          </a:xfrm>
          <a:prstGeom prst="rect">
            <a:avLst/>
          </a:prstGeom>
          <a:noFill/>
        </p:spPr>
        <p:txBody>
          <a:bodyPr vert="horz" wrap="square" lIns="0" tIns="0" rIns="0" bIns="0" rtlCol="0" anchor="t">
            <a:noAutofit/>
          </a:bodyPr>
          <a:lstStyle/>
          <a:p>
            <a:r>
              <a:rPr lang="en-US" sz="1400" b="1">
                <a:solidFill>
                  <a:srgbClr val="F7FAFF"/>
                </a:solidFill>
                <a:latin typeface="Calibri" panose="020F0502020204030204" pitchFamily="34" charset="0"/>
              </a:rPr>
              <a:t>Human control</a:t>
            </a:r>
          </a:p>
        </p:txBody>
      </p:sp>
      <p:sp>
        <p:nvSpPr>
          <p:cNvPr id="10" name="CaixaDeTexto 9">
            <a:extLst>
              <a:ext uri="{FF2B5EF4-FFF2-40B4-BE49-F238E27FC236}">
                <a16:creationId xmlns:a16="http://schemas.microsoft.com/office/drawing/2014/main" id="{B8368118-5507-1702-1347-E9C0AFFC7426}"/>
              </a:ext>
            </a:extLst>
          </p:cNvPr>
          <p:cNvSpPr txBox="1"/>
          <p:nvPr/>
        </p:nvSpPr>
        <p:spPr>
          <a:xfrm>
            <a:off x="838200" y="2717800"/>
            <a:ext cx="2971800" cy="276999"/>
          </a:xfrm>
          <a:prstGeom prst="rect">
            <a:avLst/>
          </a:prstGeom>
          <a:noFill/>
        </p:spPr>
        <p:txBody>
          <a:bodyPr vert="horz" wrap="square" lIns="0" tIns="0" rIns="0" bIns="0" rtlCol="0" anchor="t">
            <a:noAutofit/>
          </a:bodyPr>
          <a:lstStyle/>
          <a:p>
            <a:r>
              <a:rPr lang="en-US" sz="1000">
                <a:solidFill>
                  <a:srgbClr val="9AAAC9"/>
                </a:solidFill>
                <a:latin typeface="Calibri" panose="020F0502020204030204" pitchFamily="34" charset="0"/>
              </a:rPr>
              <a:t>Emails are never sent. Relevant changes require permission and approval.</a:t>
            </a:r>
          </a:p>
        </p:txBody>
      </p:sp>
      <p:sp>
        <p:nvSpPr>
          <p:cNvPr id="11" name="Retângulo: Cantos Arredondados 10">
            <a:extLst>
              <a:ext uri="{FF2B5EF4-FFF2-40B4-BE49-F238E27FC236}">
                <a16:creationId xmlns:a16="http://schemas.microsoft.com/office/drawing/2014/main" id="{56D13448-1F0B-0E37-5D28-A24A666E384A}"/>
              </a:ext>
            </a:extLst>
          </p:cNvPr>
          <p:cNvSpPr/>
          <p:nvPr/>
        </p:nvSpPr>
        <p:spPr>
          <a:xfrm>
            <a:off x="4381500" y="2006600"/>
            <a:ext cx="3429000" cy="1574800"/>
          </a:xfrm>
          <a:prstGeom prst="roundRect">
            <a:avLst/>
          </a:prstGeom>
          <a:solidFill>
            <a:srgbClr val="111A35"/>
          </a:solidFill>
          <a:ln w="12700" cap="flat" cmpd="sng" algn="ctr">
            <a:solidFill>
              <a:srgbClr val="9879FF">
                <a:alpha val="28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Elipse 11">
            <a:extLst>
              <a:ext uri="{FF2B5EF4-FFF2-40B4-BE49-F238E27FC236}">
                <a16:creationId xmlns:a16="http://schemas.microsoft.com/office/drawing/2014/main" id="{F0784A74-513A-A45C-AAA1-5891806175F2}"/>
              </a:ext>
            </a:extLst>
          </p:cNvPr>
          <p:cNvSpPr/>
          <p:nvPr/>
        </p:nvSpPr>
        <p:spPr>
          <a:xfrm>
            <a:off x="4610100" y="2209800"/>
            <a:ext cx="381000" cy="381000"/>
          </a:xfrm>
          <a:prstGeom prst="ellipse">
            <a:avLst/>
          </a:prstGeom>
          <a:solidFill>
            <a:srgbClr val="9879FF">
              <a:alpha val="95000"/>
            </a:srgbClr>
          </a:solidFill>
          <a:ln w="0" cap="flat" cmpd="sng" algn="ctr">
            <a:solidFill>
              <a:srgbClr val="9879FF">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ixaDeTexto 12">
            <a:extLst>
              <a:ext uri="{FF2B5EF4-FFF2-40B4-BE49-F238E27FC236}">
                <a16:creationId xmlns:a16="http://schemas.microsoft.com/office/drawing/2014/main" id="{7F64174E-664E-281D-A88B-1D9DC3B590B9}"/>
              </a:ext>
            </a:extLst>
          </p:cNvPr>
          <p:cNvSpPr txBox="1"/>
          <p:nvPr/>
        </p:nvSpPr>
        <p:spPr>
          <a:xfrm>
            <a:off x="4610100" y="2209800"/>
            <a:ext cx="381000" cy="276999"/>
          </a:xfrm>
          <a:prstGeom prst="rect">
            <a:avLst/>
          </a:prstGeom>
          <a:noFill/>
        </p:spPr>
        <p:txBody>
          <a:bodyPr vert="horz" wrap="square" lIns="0" tIns="0" rIns="0" bIns="0" rtlCol="0" anchor="ctr">
            <a:noAutofit/>
          </a:bodyPr>
          <a:lstStyle/>
          <a:p>
            <a:pPr algn="ctr"/>
            <a:r>
              <a:rPr lang="en-US" sz="1000" b="1">
                <a:solidFill>
                  <a:srgbClr val="050816"/>
                </a:solidFill>
                <a:latin typeface="Calibri" panose="020F0502020204030204" pitchFamily="34" charset="0"/>
              </a:rPr>
              <a:t>02</a:t>
            </a:r>
          </a:p>
        </p:txBody>
      </p:sp>
      <p:sp>
        <p:nvSpPr>
          <p:cNvPr id="14" name="CaixaDeTexto 13">
            <a:extLst>
              <a:ext uri="{FF2B5EF4-FFF2-40B4-BE49-F238E27FC236}">
                <a16:creationId xmlns:a16="http://schemas.microsoft.com/office/drawing/2014/main" id="{8E516FA7-4F28-65F5-32F5-0CD2ABC6B5E6}"/>
              </a:ext>
            </a:extLst>
          </p:cNvPr>
          <p:cNvSpPr txBox="1"/>
          <p:nvPr/>
        </p:nvSpPr>
        <p:spPr>
          <a:xfrm>
            <a:off x="5143500" y="2209800"/>
            <a:ext cx="2463800" cy="276999"/>
          </a:xfrm>
          <a:prstGeom prst="rect">
            <a:avLst/>
          </a:prstGeom>
          <a:noFill/>
        </p:spPr>
        <p:txBody>
          <a:bodyPr vert="horz" wrap="square" lIns="0" tIns="0" rIns="0" bIns="0" rtlCol="0" anchor="t">
            <a:noAutofit/>
          </a:bodyPr>
          <a:lstStyle/>
          <a:p>
            <a:r>
              <a:rPr lang="en-US" sz="1400" b="1">
                <a:solidFill>
                  <a:srgbClr val="F7FAFF"/>
                </a:solidFill>
                <a:latin typeface="Calibri" panose="020F0502020204030204" pitchFamily="34" charset="0"/>
              </a:rPr>
              <a:t>Security by design</a:t>
            </a:r>
          </a:p>
        </p:txBody>
      </p:sp>
      <p:sp>
        <p:nvSpPr>
          <p:cNvPr id="15" name="CaixaDeTexto 14">
            <a:extLst>
              <a:ext uri="{FF2B5EF4-FFF2-40B4-BE49-F238E27FC236}">
                <a16:creationId xmlns:a16="http://schemas.microsoft.com/office/drawing/2014/main" id="{2FBA4D31-E0FD-EA62-891D-234445F3E82C}"/>
              </a:ext>
            </a:extLst>
          </p:cNvPr>
          <p:cNvSpPr txBox="1"/>
          <p:nvPr/>
        </p:nvSpPr>
        <p:spPr>
          <a:xfrm>
            <a:off x="4610100" y="2717800"/>
            <a:ext cx="2971800" cy="276999"/>
          </a:xfrm>
          <a:prstGeom prst="rect">
            <a:avLst/>
          </a:prstGeom>
          <a:noFill/>
        </p:spPr>
        <p:txBody>
          <a:bodyPr vert="horz" wrap="square" lIns="0" tIns="0" rIns="0" bIns="0" rtlCol="0" anchor="t">
            <a:noAutofit/>
          </a:bodyPr>
          <a:lstStyle/>
          <a:p>
            <a:r>
              <a:rPr lang="en-US" sz="1000">
                <a:solidFill>
                  <a:srgbClr val="9AAAC9"/>
                </a:solidFill>
                <a:latin typeface="Calibri" panose="020F0502020204030204" pitchFamily="34" charset="0"/>
              </a:rPr>
              <a:t>Prompt injection is blocked; tokens are temporary and tied to the action.</a:t>
            </a:r>
          </a:p>
        </p:txBody>
      </p:sp>
      <p:sp>
        <p:nvSpPr>
          <p:cNvPr id="16" name="Retângulo: Cantos Arredondados 15">
            <a:extLst>
              <a:ext uri="{FF2B5EF4-FFF2-40B4-BE49-F238E27FC236}">
                <a16:creationId xmlns:a16="http://schemas.microsoft.com/office/drawing/2014/main" id="{0F0A9F25-BA85-40F5-8B40-8C080DD41016}"/>
              </a:ext>
            </a:extLst>
          </p:cNvPr>
          <p:cNvSpPr/>
          <p:nvPr/>
        </p:nvSpPr>
        <p:spPr>
          <a:xfrm>
            <a:off x="8153400" y="2006600"/>
            <a:ext cx="3429000" cy="1574800"/>
          </a:xfrm>
          <a:prstGeom prst="roundRect">
            <a:avLst/>
          </a:prstGeom>
          <a:solidFill>
            <a:srgbClr val="111A35"/>
          </a:solidFill>
          <a:ln w="12700" cap="flat" cmpd="sng" algn="ctr">
            <a:solidFill>
              <a:srgbClr val="42D4C7">
                <a:alpha val="28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lipse 16">
            <a:extLst>
              <a:ext uri="{FF2B5EF4-FFF2-40B4-BE49-F238E27FC236}">
                <a16:creationId xmlns:a16="http://schemas.microsoft.com/office/drawing/2014/main" id="{EA5491C7-AFF5-9EA5-4F5F-5C119CB1BC34}"/>
              </a:ext>
            </a:extLst>
          </p:cNvPr>
          <p:cNvSpPr/>
          <p:nvPr/>
        </p:nvSpPr>
        <p:spPr>
          <a:xfrm>
            <a:off x="8382000" y="2209800"/>
            <a:ext cx="381000" cy="381000"/>
          </a:xfrm>
          <a:prstGeom prst="ellipse">
            <a:avLst/>
          </a:prstGeom>
          <a:solidFill>
            <a:srgbClr val="42D4C7">
              <a:alpha val="95000"/>
            </a:srgbClr>
          </a:solidFill>
          <a:ln w="0" cap="flat" cmpd="sng" algn="ctr">
            <a:solidFill>
              <a:srgbClr val="42D4C7">
                <a:alpha val="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aixaDeTexto 17">
            <a:extLst>
              <a:ext uri="{FF2B5EF4-FFF2-40B4-BE49-F238E27FC236}">
                <a16:creationId xmlns:a16="http://schemas.microsoft.com/office/drawing/2014/main" id="{2AAE5042-9BA9-67E4-204A-17E5182A2955}"/>
              </a:ext>
            </a:extLst>
          </p:cNvPr>
          <p:cNvSpPr txBox="1"/>
          <p:nvPr/>
        </p:nvSpPr>
        <p:spPr>
          <a:xfrm>
            <a:off x="8382000" y="2209800"/>
            <a:ext cx="381000" cy="276999"/>
          </a:xfrm>
          <a:prstGeom prst="rect">
            <a:avLst/>
          </a:prstGeom>
          <a:noFill/>
        </p:spPr>
        <p:txBody>
          <a:bodyPr vert="horz" wrap="square" lIns="0" tIns="0" rIns="0" bIns="0" rtlCol="0" anchor="ctr">
            <a:noAutofit/>
          </a:bodyPr>
          <a:lstStyle/>
          <a:p>
            <a:pPr algn="ctr"/>
            <a:r>
              <a:rPr lang="en-US" sz="1000" b="1">
                <a:solidFill>
                  <a:srgbClr val="050816"/>
                </a:solidFill>
                <a:latin typeface="Calibri" panose="020F0502020204030204" pitchFamily="34" charset="0"/>
              </a:rPr>
              <a:t>03</a:t>
            </a:r>
          </a:p>
        </p:txBody>
      </p:sp>
      <p:sp>
        <p:nvSpPr>
          <p:cNvPr id="19" name="CaixaDeTexto 18">
            <a:extLst>
              <a:ext uri="{FF2B5EF4-FFF2-40B4-BE49-F238E27FC236}">
                <a16:creationId xmlns:a16="http://schemas.microsoft.com/office/drawing/2014/main" id="{58B26213-1F20-1C51-4E30-A23B836541BC}"/>
              </a:ext>
            </a:extLst>
          </p:cNvPr>
          <p:cNvSpPr txBox="1"/>
          <p:nvPr/>
        </p:nvSpPr>
        <p:spPr>
          <a:xfrm>
            <a:off x="8915400" y="2209800"/>
            <a:ext cx="2463800" cy="276999"/>
          </a:xfrm>
          <a:prstGeom prst="rect">
            <a:avLst/>
          </a:prstGeom>
          <a:noFill/>
        </p:spPr>
        <p:txBody>
          <a:bodyPr vert="horz" wrap="square" lIns="0" tIns="0" rIns="0" bIns="0" rtlCol="0" anchor="t">
            <a:noAutofit/>
          </a:bodyPr>
          <a:lstStyle/>
          <a:p>
            <a:r>
              <a:rPr lang="en-US" sz="1400" b="1">
                <a:solidFill>
                  <a:srgbClr val="F7FAFF"/>
                </a:solidFill>
                <a:latin typeface="Calibri" panose="020F0502020204030204" pitchFamily="34" charset="0"/>
              </a:rPr>
              <a:t>Operational truth</a:t>
            </a:r>
          </a:p>
        </p:txBody>
      </p:sp>
      <p:sp>
        <p:nvSpPr>
          <p:cNvPr id="20" name="CaixaDeTexto 19">
            <a:extLst>
              <a:ext uri="{FF2B5EF4-FFF2-40B4-BE49-F238E27FC236}">
                <a16:creationId xmlns:a16="http://schemas.microsoft.com/office/drawing/2014/main" id="{FEC4B131-C79C-787C-F1B9-AFB5F67F3C91}"/>
              </a:ext>
            </a:extLst>
          </p:cNvPr>
          <p:cNvSpPr txBox="1"/>
          <p:nvPr/>
        </p:nvSpPr>
        <p:spPr>
          <a:xfrm>
            <a:off x="8382000" y="2717800"/>
            <a:ext cx="2971800" cy="276999"/>
          </a:xfrm>
          <a:prstGeom prst="rect">
            <a:avLst/>
          </a:prstGeom>
          <a:noFill/>
        </p:spPr>
        <p:txBody>
          <a:bodyPr vert="horz" wrap="square" lIns="0" tIns="0" rIns="0" bIns="0" rtlCol="0" anchor="t">
            <a:noAutofit/>
          </a:bodyPr>
          <a:lstStyle/>
          <a:p>
            <a:r>
              <a:rPr lang="en-US" sz="1000">
                <a:solidFill>
                  <a:srgbClr val="9AAAC9"/>
                </a:solidFill>
                <a:latin typeface="Calibri" panose="020F0502020204030204" pitchFamily="34" charset="0"/>
              </a:rPr>
              <a:t>Demo and Live are labeled. A real failure never becomes simulated success.</a:t>
            </a:r>
          </a:p>
        </p:txBody>
      </p:sp>
      <p:sp>
        <p:nvSpPr>
          <p:cNvPr id="21" name="CaixaDeTexto 20">
            <a:extLst>
              <a:ext uri="{FF2B5EF4-FFF2-40B4-BE49-F238E27FC236}">
                <a16:creationId xmlns:a16="http://schemas.microsoft.com/office/drawing/2014/main" id="{E3DF8FC1-40E8-86A7-40B9-666699FDB7E9}"/>
              </a:ext>
            </a:extLst>
          </p:cNvPr>
          <p:cNvSpPr txBox="1"/>
          <p:nvPr/>
        </p:nvSpPr>
        <p:spPr>
          <a:xfrm>
            <a:off x="609600" y="4140200"/>
            <a:ext cx="3810000" cy="276999"/>
          </a:xfrm>
          <a:prstGeom prst="rect">
            <a:avLst/>
          </a:prstGeom>
          <a:noFill/>
        </p:spPr>
        <p:txBody>
          <a:bodyPr vert="horz" wrap="square" lIns="0" tIns="0" rIns="0" bIns="0" rtlCol="0" anchor="t">
            <a:noAutofit/>
          </a:bodyPr>
          <a:lstStyle/>
          <a:p>
            <a:r>
              <a:rPr lang="en-US" sz="1000" b="1">
                <a:solidFill>
                  <a:srgbClr val="5BE7F5"/>
                </a:solidFill>
                <a:latin typeface="Calibri" panose="020F0502020204030204" pitchFamily="34" charset="0"/>
              </a:rPr>
              <a:t>THREE READY-TO-RUN DEMOS</a:t>
            </a:r>
          </a:p>
        </p:txBody>
      </p:sp>
      <p:sp>
        <p:nvSpPr>
          <p:cNvPr id="22" name="Retângulo: Cantos Arredondados 21">
            <a:extLst>
              <a:ext uri="{FF2B5EF4-FFF2-40B4-BE49-F238E27FC236}">
                <a16:creationId xmlns:a16="http://schemas.microsoft.com/office/drawing/2014/main" id="{ABF8F78B-B1A0-A047-4044-03B41CE6D2F2}"/>
              </a:ext>
            </a:extLst>
          </p:cNvPr>
          <p:cNvSpPr/>
          <p:nvPr/>
        </p:nvSpPr>
        <p:spPr>
          <a:xfrm>
            <a:off x="609600" y="4546600"/>
            <a:ext cx="3581400" cy="838200"/>
          </a:xfrm>
          <a:prstGeom prst="roundRect">
            <a:avLst/>
          </a:prstGeom>
          <a:solidFill>
            <a:srgbClr val="151F3D"/>
          </a:solidFill>
          <a:ln w="12700" cap="flat" cmpd="sng" algn="ctr">
            <a:solidFill>
              <a:srgbClr val="273459">
                <a:alpha val="7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aixaDeTexto 22">
            <a:extLst>
              <a:ext uri="{FF2B5EF4-FFF2-40B4-BE49-F238E27FC236}">
                <a16:creationId xmlns:a16="http://schemas.microsoft.com/office/drawing/2014/main" id="{49FE7F9D-00B5-6D3C-2C12-6432752B6296}"/>
              </a:ext>
            </a:extLst>
          </p:cNvPr>
          <p:cNvSpPr txBox="1"/>
          <p:nvPr/>
        </p:nvSpPr>
        <p:spPr>
          <a:xfrm>
            <a:off x="787400" y="4686300"/>
            <a:ext cx="3225800" cy="276999"/>
          </a:xfrm>
          <a:prstGeom prst="rect">
            <a:avLst/>
          </a:prstGeom>
          <a:noFill/>
        </p:spPr>
        <p:txBody>
          <a:bodyPr vert="horz" wrap="square" lIns="0" tIns="0" rIns="0" bIns="0" rtlCol="0" anchor="t">
            <a:noAutofit/>
          </a:bodyPr>
          <a:lstStyle/>
          <a:p>
            <a:r>
              <a:rPr lang="en-US" sz="1200" b="1">
                <a:solidFill>
                  <a:srgbClr val="F7FAFF"/>
                </a:solidFill>
                <a:latin typeface="Cambria" panose="02040503050406030204" pitchFamily="18" charset="0"/>
              </a:rPr>
              <a:t>"Organize my tomorrow"</a:t>
            </a:r>
          </a:p>
        </p:txBody>
      </p:sp>
      <p:sp>
        <p:nvSpPr>
          <p:cNvPr id="24" name="CaixaDeTexto 23">
            <a:extLst>
              <a:ext uri="{FF2B5EF4-FFF2-40B4-BE49-F238E27FC236}">
                <a16:creationId xmlns:a16="http://schemas.microsoft.com/office/drawing/2014/main" id="{B9893BCB-05E1-EBF0-3BCC-CACCC628DF5F}"/>
              </a:ext>
            </a:extLst>
          </p:cNvPr>
          <p:cNvSpPr txBox="1"/>
          <p:nvPr/>
        </p:nvSpPr>
        <p:spPr>
          <a:xfrm>
            <a:off x="787400" y="5041900"/>
            <a:ext cx="3225800" cy="276999"/>
          </a:xfrm>
          <a:prstGeom prst="rect">
            <a:avLst/>
          </a:prstGeom>
          <a:noFill/>
        </p:spPr>
        <p:txBody>
          <a:bodyPr vert="horz" wrap="square" lIns="0" tIns="0" rIns="0" bIns="0" rtlCol="0" anchor="t">
            <a:noAutofit/>
          </a:bodyPr>
          <a:lstStyle/>
          <a:p>
            <a:r>
              <a:rPr lang="en-US" sz="900">
                <a:solidFill>
                  <a:srgbClr val="93A4C7"/>
                </a:solidFill>
                <a:latin typeface="Calibri" panose="020F0502020204030204" pitchFamily="34" charset="0"/>
              </a:rPr>
              <a:t>focus + workout + approval</a:t>
            </a:r>
          </a:p>
        </p:txBody>
      </p:sp>
      <p:sp>
        <p:nvSpPr>
          <p:cNvPr id="25" name="Retângulo: Cantos Arredondados 24">
            <a:extLst>
              <a:ext uri="{FF2B5EF4-FFF2-40B4-BE49-F238E27FC236}">
                <a16:creationId xmlns:a16="http://schemas.microsoft.com/office/drawing/2014/main" id="{2D5E6972-C5DD-9FBB-0E2A-1E5429479B31}"/>
              </a:ext>
            </a:extLst>
          </p:cNvPr>
          <p:cNvSpPr/>
          <p:nvPr/>
        </p:nvSpPr>
        <p:spPr>
          <a:xfrm>
            <a:off x="4305300" y="4546600"/>
            <a:ext cx="3581400" cy="838200"/>
          </a:xfrm>
          <a:prstGeom prst="roundRect">
            <a:avLst/>
          </a:prstGeom>
          <a:solidFill>
            <a:srgbClr val="151F3D"/>
          </a:solidFill>
          <a:ln w="12700" cap="flat" cmpd="sng" algn="ctr">
            <a:solidFill>
              <a:srgbClr val="273459">
                <a:alpha val="7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aixaDeTexto 25">
            <a:extLst>
              <a:ext uri="{FF2B5EF4-FFF2-40B4-BE49-F238E27FC236}">
                <a16:creationId xmlns:a16="http://schemas.microsoft.com/office/drawing/2014/main" id="{F129D1A1-D921-1FEE-E24B-BC1901782A9D}"/>
              </a:ext>
            </a:extLst>
          </p:cNvPr>
          <p:cNvSpPr txBox="1"/>
          <p:nvPr/>
        </p:nvSpPr>
        <p:spPr>
          <a:xfrm>
            <a:off x="4483100" y="4686300"/>
            <a:ext cx="3225800" cy="276999"/>
          </a:xfrm>
          <a:prstGeom prst="rect">
            <a:avLst/>
          </a:prstGeom>
          <a:noFill/>
        </p:spPr>
        <p:txBody>
          <a:bodyPr vert="horz" wrap="square" lIns="0" tIns="0" rIns="0" bIns="0" rtlCol="0" anchor="t">
            <a:noAutofit/>
          </a:bodyPr>
          <a:lstStyle/>
          <a:p>
            <a:r>
              <a:rPr lang="en-US" sz="1200" b="1">
                <a:solidFill>
                  <a:srgbClr val="F7FAFF"/>
                </a:solidFill>
                <a:latin typeface="Cambria" panose="02040503050406030204" pitchFamily="18" charset="0"/>
              </a:rPr>
              <a:t>"Summarize my emails"</a:t>
            </a:r>
          </a:p>
        </p:txBody>
      </p:sp>
      <p:sp>
        <p:nvSpPr>
          <p:cNvPr id="27" name="CaixaDeTexto 26">
            <a:extLst>
              <a:ext uri="{FF2B5EF4-FFF2-40B4-BE49-F238E27FC236}">
                <a16:creationId xmlns:a16="http://schemas.microsoft.com/office/drawing/2014/main" id="{0475AF10-18A8-0CA7-96D5-2C1422AC8A98}"/>
              </a:ext>
            </a:extLst>
          </p:cNvPr>
          <p:cNvSpPr txBox="1"/>
          <p:nvPr/>
        </p:nvSpPr>
        <p:spPr>
          <a:xfrm>
            <a:off x="4483100" y="5041900"/>
            <a:ext cx="3225800" cy="276999"/>
          </a:xfrm>
          <a:prstGeom prst="rect">
            <a:avLst/>
          </a:prstGeom>
          <a:noFill/>
        </p:spPr>
        <p:txBody>
          <a:bodyPr vert="horz" wrap="square" lIns="0" tIns="0" rIns="0" bIns="0" rtlCol="0" anchor="t">
            <a:noAutofit/>
          </a:bodyPr>
          <a:lstStyle/>
          <a:p>
            <a:r>
              <a:rPr lang="en-US" sz="900">
                <a:solidFill>
                  <a:srgbClr val="93A4C7"/>
                </a:solidFill>
                <a:latin typeface="Calibri" panose="020F0502020204030204" pitchFamily="34" charset="0"/>
              </a:rPr>
              <a:t>safe inbox triage</a:t>
            </a:r>
          </a:p>
        </p:txBody>
      </p:sp>
      <p:sp>
        <p:nvSpPr>
          <p:cNvPr id="28" name="Retângulo: Cantos Arredondados 27">
            <a:extLst>
              <a:ext uri="{FF2B5EF4-FFF2-40B4-BE49-F238E27FC236}">
                <a16:creationId xmlns:a16="http://schemas.microsoft.com/office/drawing/2014/main" id="{336A128F-97CE-9A69-B5C4-36EB49513B52}"/>
              </a:ext>
            </a:extLst>
          </p:cNvPr>
          <p:cNvSpPr/>
          <p:nvPr/>
        </p:nvSpPr>
        <p:spPr>
          <a:xfrm>
            <a:off x="8001000" y="4546600"/>
            <a:ext cx="3581400" cy="838200"/>
          </a:xfrm>
          <a:prstGeom prst="roundRect">
            <a:avLst/>
          </a:prstGeom>
          <a:solidFill>
            <a:srgbClr val="151F3D"/>
          </a:solidFill>
          <a:ln w="12700" cap="flat" cmpd="sng" algn="ctr">
            <a:solidFill>
              <a:srgbClr val="273459">
                <a:alpha val="70000"/>
              </a:srgbClr>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aixaDeTexto 28">
            <a:extLst>
              <a:ext uri="{FF2B5EF4-FFF2-40B4-BE49-F238E27FC236}">
                <a16:creationId xmlns:a16="http://schemas.microsoft.com/office/drawing/2014/main" id="{A1B99A54-BA96-ECBE-C52D-EC3C69279655}"/>
              </a:ext>
            </a:extLst>
          </p:cNvPr>
          <p:cNvSpPr txBox="1"/>
          <p:nvPr/>
        </p:nvSpPr>
        <p:spPr>
          <a:xfrm>
            <a:off x="8178800" y="4686300"/>
            <a:ext cx="3225800" cy="276999"/>
          </a:xfrm>
          <a:prstGeom prst="rect">
            <a:avLst/>
          </a:prstGeom>
          <a:noFill/>
        </p:spPr>
        <p:txBody>
          <a:bodyPr vert="horz" wrap="square" lIns="0" tIns="0" rIns="0" bIns="0" rtlCol="0" anchor="t">
            <a:noAutofit/>
          </a:bodyPr>
          <a:lstStyle/>
          <a:p>
            <a:r>
              <a:rPr lang="en-US" sz="1200" b="1">
                <a:solidFill>
                  <a:srgbClr val="F7FAFF"/>
                </a:solidFill>
                <a:latin typeface="Cambria" panose="02040503050406030204" pitchFamily="18" charset="0"/>
              </a:rPr>
              <a:t>"Find a free workout slot"</a:t>
            </a:r>
          </a:p>
        </p:txBody>
      </p:sp>
      <p:sp>
        <p:nvSpPr>
          <p:cNvPr id="30" name="CaixaDeTexto 29">
            <a:extLst>
              <a:ext uri="{FF2B5EF4-FFF2-40B4-BE49-F238E27FC236}">
                <a16:creationId xmlns:a16="http://schemas.microsoft.com/office/drawing/2014/main" id="{8671E7E8-06AB-6204-ED48-5D7653E99435}"/>
              </a:ext>
            </a:extLst>
          </p:cNvPr>
          <p:cNvSpPr txBox="1"/>
          <p:nvPr/>
        </p:nvSpPr>
        <p:spPr>
          <a:xfrm>
            <a:off x="8178800" y="5041900"/>
            <a:ext cx="3225800" cy="276999"/>
          </a:xfrm>
          <a:prstGeom prst="rect">
            <a:avLst/>
          </a:prstGeom>
          <a:noFill/>
        </p:spPr>
        <p:txBody>
          <a:bodyPr vert="horz" wrap="square" lIns="0" tIns="0" rIns="0" bIns="0" rtlCol="0" anchor="t">
            <a:noAutofit/>
          </a:bodyPr>
          <a:lstStyle/>
          <a:p>
            <a:r>
              <a:rPr lang="en-US" sz="900">
                <a:solidFill>
                  <a:srgbClr val="93A4C7"/>
                </a:solidFill>
                <a:latin typeface="Calibri" panose="020F0502020204030204" pitchFamily="34" charset="0"/>
              </a:rPr>
              <a:t>conflict-free scheduling</a:t>
            </a:r>
          </a:p>
        </p:txBody>
      </p:sp>
      <p:sp>
        <p:nvSpPr>
          <p:cNvPr id="31" name="CaixaDeTexto 30">
            <a:extLst>
              <a:ext uri="{FF2B5EF4-FFF2-40B4-BE49-F238E27FC236}">
                <a16:creationId xmlns:a16="http://schemas.microsoft.com/office/drawing/2014/main" id="{9D2EB7AD-CD43-EE32-8772-882E522A28F9}"/>
              </a:ext>
            </a:extLst>
          </p:cNvPr>
          <p:cNvSpPr txBox="1"/>
          <p:nvPr/>
        </p:nvSpPr>
        <p:spPr>
          <a:xfrm>
            <a:off x="609600" y="5778500"/>
            <a:ext cx="7620000" cy="276999"/>
          </a:xfrm>
          <a:prstGeom prst="rect">
            <a:avLst/>
          </a:prstGeom>
          <a:noFill/>
        </p:spPr>
        <p:txBody>
          <a:bodyPr vert="horz" wrap="square" lIns="0" tIns="0" rIns="0" bIns="0" rtlCol="0" anchor="t">
            <a:noAutofit/>
          </a:bodyPr>
          <a:lstStyle/>
          <a:p>
            <a:r>
              <a:rPr lang="en-US" sz="2100" b="1">
                <a:solidFill>
                  <a:srgbClr val="F7FAFF"/>
                </a:solidFill>
                <a:latin typeface="Cambria" panose="02040503050406030204" pitchFamily="18" charset="0"/>
              </a:rPr>
              <a:t>Fewer apps. More coordination.</a:t>
            </a:r>
          </a:p>
        </p:txBody>
      </p:sp>
      <p:sp>
        <p:nvSpPr>
          <p:cNvPr id="32" name="CaixaDeTexto 31">
            <a:extLst>
              <a:ext uri="{FF2B5EF4-FFF2-40B4-BE49-F238E27FC236}">
                <a16:creationId xmlns:a16="http://schemas.microsoft.com/office/drawing/2014/main" id="{11440780-C7B7-FDA0-9A71-55C3AB3156FF}"/>
              </a:ext>
            </a:extLst>
          </p:cNvPr>
          <p:cNvSpPr txBox="1"/>
          <p:nvPr/>
        </p:nvSpPr>
        <p:spPr>
          <a:xfrm>
            <a:off x="8318500" y="5854700"/>
            <a:ext cx="3263900" cy="276999"/>
          </a:xfrm>
          <a:prstGeom prst="rect">
            <a:avLst/>
          </a:prstGeom>
          <a:noFill/>
        </p:spPr>
        <p:txBody>
          <a:bodyPr vert="horz" wrap="square" lIns="0" tIns="0" rIns="0" bIns="0" rtlCol="0" anchor="t">
            <a:noAutofit/>
          </a:bodyPr>
          <a:lstStyle/>
          <a:p>
            <a:pPr algn="r"/>
            <a:r>
              <a:rPr lang="en-US" sz="1200" b="1">
                <a:solidFill>
                  <a:srgbClr val="5BE7F5"/>
                </a:solidFill>
                <a:latin typeface="Calibri" panose="020F0502020204030204" pitchFamily="34" charset="0"/>
              </a:rPr>
              <a:t>Your life. Your rules. Your clone.</a:t>
            </a:r>
          </a:p>
        </p:txBody>
      </p:sp>
      <p:sp>
        <p:nvSpPr>
          <p:cNvPr id="33" name="CaixaDeTexto 32">
            <a:extLst>
              <a:ext uri="{FF2B5EF4-FFF2-40B4-BE49-F238E27FC236}">
                <a16:creationId xmlns:a16="http://schemas.microsoft.com/office/drawing/2014/main" id="{9C79898E-E56D-92C6-00CA-D2B2B7937F8C}"/>
              </a:ext>
            </a:extLst>
          </p:cNvPr>
          <p:cNvSpPr txBox="1"/>
          <p:nvPr/>
        </p:nvSpPr>
        <p:spPr>
          <a:xfrm>
            <a:off x="609600" y="6413500"/>
            <a:ext cx="8255000" cy="276999"/>
          </a:xfrm>
          <a:prstGeom prst="rect">
            <a:avLst/>
          </a:prstGeom>
          <a:noFill/>
        </p:spPr>
        <p:txBody>
          <a:bodyPr vert="horz" wrap="square" lIns="0" tIns="0" rIns="0" bIns="0" rtlCol="0" anchor="t">
            <a:noAutofit/>
          </a:bodyPr>
          <a:lstStyle/>
          <a:p>
            <a:r>
              <a:rPr lang="en-US" sz="900">
                <a:solidFill>
                  <a:srgbClr val="7384A9"/>
                </a:solidFill>
                <a:latin typeface="Calibri" panose="020F0502020204030204" pitchFamily="34" charset="0"/>
              </a:rPr>
              <a:t>Open source - Next.js - Composio - Parallel - auditable architecture</a:t>
            </a:r>
          </a:p>
        </p:txBody>
      </p:sp>
    </p:spTree>
    <p:extLst>
      <p:ext uri="{BB962C8B-B14F-4D97-AF65-F5344CB8AC3E}">
        <p14:creationId xmlns:p14="http://schemas.microsoft.com/office/powerpoint/2010/main" val="2798706027"/>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860db96-b53f-4bd7-8137-e09357cab268}" enabled="1" method="Standard" siteId="{b78d03e6-f6a2-4cff-83be-847d1a6453f9}" contentBits="0" removed="0"/>
</clbl:labelList>
</file>

<file path=docProps/app.xml><?xml version="1.0" encoding="utf-8"?>
<Properties xmlns="http://schemas.openxmlformats.org/officeDocument/2006/extended-properties" xmlns:vt="http://schemas.openxmlformats.org/officeDocument/2006/docPropsVTypes">
  <TotalTime>0</TotalTime>
  <Words>736</Words>
  <Application>Microsoft Office PowerPoint</Application>
  <PresentationFormat>Personalizar</PresentationFormat>
  <Paragraphs>102</Paragraphs>
  <Slides>5</Slides>
  <Notes>5</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5</vt:i4>
      </vt:variant>
    </vt:vector>
  </HeadingPairs>
  <TitlesOfParts>
    <vt:vector size="11" baseType="lpstr">
      <vt:lpstr>Aptos</vt:lpstr>
      <vt:lpstr>Aptos Display</vt:lpstr>
      <vt:lpstr>Arial</vt:lpstr>
      <vt:lpstr>Calibri</vt:lpstr>
      <vt:lpstr>Cambria</vt:lpstr>
      <vt:lpstr>Tema do Office</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 OLIVEIRA NASCIMENTO Pedro</dc:creator>
  <cp:lastModifiedBy>DE OLIVEIRA NASCIMENTO Pedro</cp:lastModifiedBy>
  <cp:revision>1</cp:revision>
  <dcterms:created xsi:type="dcterms:W3CDTF">2026-10-19T22:12:14Z</dcterms:created>
  <dcterms:modified xsi:type="dcterms:W3CDTF">2026-10-19T22:12:15Z</dcterms:modified>
</cp:coreProperties>
</file>